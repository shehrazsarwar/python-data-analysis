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embeddedFontLst>
    <p:embeddedFont>
      <p:font typeface="Instrument Sans Medium" panose="020B0604020202020204" charset="0"/>
      <p:regular r:id="rId18"/>
    </p:embeddedFont>
    <p:embeddedFont>
      <p:font typeface="Instrument Sans Semi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A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37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5741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971556"/>
            <a:ext cx="7556421" cy="1860233"/>
          </a:xfrm>
          <a:prstGeom prst="rect">
            <a:avLst/>
          </a:prstGeom>
          <a:noFill/>
          <a:ln/>
        </p:spPr>
        <p:txBody>
          <a:bodyPr wrap="squar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ShowLens: Show Insights, Predictions &amp; Recommendations</a:t>
            </a:r>
            <a:endParaRPr lang="en-US" sz="3900" dirty="0"/>
          </a:p>
        </p:txBody>
      </p:sp>
      <p:sp>
        <p:nvSpPr>
          <p:cNvPr id="4" name="Text 1"/>
          <p:cNvSpPr/>
          <p:nvPr/>
        </p:nvSpPr>
        <p:spPr>
          <a:xfrm>
            <a:off x="793790" y="4129445"/>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This project applies a data scientist's mindset to a Shows dataset, exploring patterns, generating actionable insights, and applying predictive techniques.</a:t>
            </a:r>
            <a:endParaRPr lang="en-US" sz="1550" dirty="0"/>
          </a:p>
        </p:txBody>
      </p:sp>
      <p:sp>
        <p:nvSpPr>
          <p:cNvPr id="5" name="Text 2"/>
          <p:cNvSpPr/>
          <p:nvPr/>
        </p:nvSpPr>
        <p:spPr>
          <a:xfrm>
            <a:off x="793790" y="4987766"/>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It combines Exploratory Data Analysis (EDA), Predictive Modeling, and a Content-Based Recommendation System to uncover trends and help users discover new shows. The goal is to provide insights useful for viewers, content creators, and producers.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250275"/>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Unveiling Show Trends: Our Research Questions</a:t>
            </a:r>
            <a:endParaRPr lang="en-US" sz="3900" dirty="0"/>
          </a:p>
        </p:txBody>
      </p:sp>
      <p:sp>
        <p:nvSpPr>
          <p:cNvPr id="4" name="Shape 1"/>
          <p:cNvSpPr/>
          <p:nvPr/>
        </p:nvSpPr>
        <p:spPr>
          <a:xfrm>
            <a:off x="793790" y="2788087"/>
            <a:ext cx="446484" cy="446484"/>
          </a:xfrm>
          <a:prstGeom prst="roundRect">
            <a:avLst>
              <a:gd name="adj" fmla="val 18670"/>
            </a:avLst>
          </a:prstGeom>
          <a:solidFill>
            <a:srgbClr val="3D3D42"/>
          </a:solidFill>
          <a:ln w="7620">
            <a:solidFill>
              <a:srgbClr val="56565B"/>
            </a:solidFill>
            <a:prstDash val="solid"/>
          </a:ln>
        </p:spPr>
      </p:sp>
      <p:sp>
        <p:nvSpPr>
          <p:cNvPr id="5" name="Text 2"/>
          <p:cNvSpPr/>
          <p:nvPr/>
        </p:nvSpPr>
        <p:spPr>
          <a:xfrm>
            <a:off x="868204" y="2825294"/>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CFD0D8"/>
                </a:solidFill>
                <a:latin typeface="Instrument Sans Semi Bold" pitchFamily="34" charset="0"/>
                <a:ea typeface="Instrument Sans Semi Bold" pitchFamily="34" charset="-122"/>
                <a:cs typeface="Instrument Sans Semi Bold" pitchFamily="34" charset="-120"/>
              </a:rPr>
              <a:t>1</a:t>
            </a:r>
            <a:endParaRPr lang="en-US" sz="2300" dirty="0"/>
          </a:p>
        </p:txBody>
      </p:sp>
      <p:sp>
        <p:nvSpPr>
          <p:cNvPr id="6" name="Text 3"/>
          <p:cNvSpPr/>
          <p:nvPr/>
        </p:nvSpPr>
        <p:spPr>
          <a:xfrm>
            <a:off x="1438632" y="285630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Highest Rated Shows</a:t>
            </a:r>
            <a:endParaRPr lang="en-US" sz="1950" dirty="0"/>
          </a:p>
        </p:txBody>
      </p:sp>
      <p:sp>
        <p:nvSpPr>
          <p:cNvPr id="7" name="Text 4"/>
          <p:cNvSpPr/>
          <p:nvPr/>
        </p:nvSpPr>
        <p:spPr>
          <a:xfrm>
            <a:off x="1438632" y="3285530"/>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Which Shows are the highest rated of all time, by year, and in the most recent two years?</a:t>
            </a:r>
            <a:endParaRPr lang="en-US" sz="1550" dirty="0"/>
          </a:p>
        </p:txBody>
      </p:sp>
      <p:sp>
        <p:nvSpPr>
          <p:cNvPr id="8" name="Shape 5"/>
          <p:cNvSpPr/>
          <p:nvPr/>
        </p:nvSpPr>
        <p:spPr>
          <a:xfrm>
            <a:off x="793790" y="4317444"/>
            <a:ext cx="446484" cy="446484"/>
          </a:xfrm>
          <a:prstGeom prst="roundRect">
            <a:avLst>
              <a:gd name="adj" fmla="val 18670"/>
            </a:avLst>
          </a:prstGeom>
          <a:solidFill>
            <a:srgbClr val="3D3D42"/>
          </a:solidFill>
          <a:ln w="7620">
            <a:solidFill>
              <a:srgbClr val="56565B"/>
            </a:solidFill>
            <a:prstDash val="solid"/>
          </a:ln>
        </p:spPr>
      </p:sp>
      <p:sp>
        <p:nvSpPr>
          <p:cNvPr id="9" name="Text 6"/>
          <p:cNvSpPr/>
          <p:nvPr/>
        </p:nvSpPr>
        <p:spPr>
          <a:xfrm>
            <a:off x="868204" y="4354651"/>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CFD0D8"/>
                </a:solidFill>
                <a:latin typeface="Instrument Sans Semi Bold" pitchFamily="34" charset="0"/>
                <a:ea typeface="Instrument Sans Semi Bold" pitchFamily="34" charset="-122"/>
                <a:cs typeface="Instrument Sans Semi Bold" pitchFamily="34" charset="-120"/>
              </a:rPr>
              <a:t>2</a:t>
            </a:r>
            <a:endParaRPr lang="en-US" sz="2300" dirty="0"/>
          </a:p>
        </p:txBody>
      </p:sp>
      <p:sp>
        <p:nvSpPr>
          <p:cNvPr id="10" name="Text 7"/>
          <p:cNvSpPr/>
          <p:nvPr/>
        </p:nvSpPr>
        <p:spPr>
          <a:xfrm>
            <a:off x="1438632" y="4385667"/>
            <a:ext cx="2527459"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Genre &amp; Actor Impact</a:t>
            </a:r>
            <a:endParaRPr lang="en-US" sz="1950" dirty="0"/>
          </a:p>
        </p:txBody>
      </p:sp>
      <p:sp>
        <p:nvSpPr>
          <p:cNvPr id="11" name="Text 8"/>
          <p:cNvSpPr/>
          <p:nvPr/>
        </p:nvSpPr>
        <p:spPr>
          <a:xfrm>
            <a:off x="1438632" y="4814888"/>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Which genres and actors are featured in the highest-rated shows, and how do they influence show rankings?</a:t>
            </a:r>
            <a:endParaRPr lang="en-US" sz="1550" dirty="0"/>
          </a:p>
        </p:txBody>
      </p:sp>
      <p:sp>
        <p:nvSpPr>
          <p:cNvPr id="12" name="Shape 9"/>
          <p:cNvSpPr/>
          <p:nvPr/>
        </p:nvSpPr>
        <p:spPr>
          <a:xfrm>
            <a:off x="793790" y="5846802"/>
            <a:ext cx="446484" cy="446484"/>
          </a:xfrm>
          <a:prstGeom prst="roundRect">
            <a:avLst>
              <a:gd name="adj" fmla="val 18670"/>
            </a:avLst>
          </a:prstGeom>
          <a:solidFill>
            <a:srgbClr val="3D3D42"/>
          </a:solidFill>
          <a:ln w="7620">
            <a:solidFill>
              <a:srgbClr val="56565B"/>
            </a:solidFill>
            <a:prstDash val="solid"/>
          </a:ln>
        </p:spPr>
      </p:sp>
      <p:sp>
        <p:nvSpPr>
          <p:cNvPr id="13" name="Text 10"/>
          <p:cNvSpPr/>
          <p:nvPr/>
        </p:nvSpPr>
        <p:spPr>
          <a:xfrm>
            <a:off x="868204" y="5884009"/>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CFD0D8"/>
                </a:solidFill>
                <a:latin typeface="Instrument Sans Semi Bold" pitchFamily="34" charset="0"/>
                <a:ea typeface="Instrument Sans Semi Bold" pitchFamily="34" charset="-122"/>
                <a:cs typeface="Instrument Sans Semi Bold" pitchFamily="34" charset="-120"/>
              </a:rPr>
              <a:t>3</a:t>
            </a:r>
            <a:endParaRPr lang="en-US" sz="2300" dirty="0"/>
          </a:p>
        </p:txBody>
      </p:sp>
      <p:sp>
        <p:nvSpPr>
          <p:cNvPr id="14" name="Text 11"/>
          <p:cNvSpPr/>
          <p:nvPr/>
        </p:nvSpPr>
        <p:spPr>
          <a:xfrm>
            <a:off x="1438632" y="5915025"/>
            <a:ext cx="462093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Predictive &amp; Recommendation Systems</a:t>
            </a:r>
            <a:endParaRPr lang="en-US" sz="1950" dirty="0"/>
          </a:p>
        </p:txBody>
      </p:sp>
      <p:sp>
        <p:nvSpPr>
          <p:cNvPr id="15" name="Text 12"/>
          <p:cNvSpPr/>
          <p:nvPr/>
        </p:nvSpPr>
        <p:spPr>
          <a:xfrm>
            <a:off x="1438632" y="6344245"/>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Can we predict a show's rank based on its features? Can we recommend similar shows based on user preferences?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832848"/>
            <a:ext cx="8630364" cy="620078"/>
          </a:xfrm>
          <a:prstGeom prst="rect">
            <a:avLst/>
          </a:prstGeom>
          <a:noFill/>
          <a:ln/>
        </p:spPr>
        <p:txBody>
          <a:bodyPr wrap="non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Data Preparation: From Raw to Ready</a:t>
            </a:r>
            <a:endParaRPr lang="en-US" sz="3900" dirty="0"/>
          </a:p>
        </p:txBody>
      </p:sp>
      <p:sp>
        <p:nvSpPr>
          <p:cNvPr id="3" name="Text 1"/>
          <p:cNvSpPr/>
          <p:nvPr/>
        </p:nvSpPr>
        <p:spPr>
          <a:xfrm>
            <a:off x="793790" y="2948940"/>
            <a:ext cx="3029903" cy="372070"/>
          </a:xfrm>
          <a:prstGeom prst="rect">
            <a:avLst/>
          </a:prstGeom>
          <a:noFill/>
          <a:ln/>
        </p:spPr>
        <p:txBody>
          <a:bodyPr wrap="none" lIns="0" tIns="0" rIns="0" bIns="0" rtlCol="0" anchor="t"/>
          <a:lstStyle/>
          <a:p>
            <a:pPr marL="0" indent="0" algn="l">
              <a:lnSpc>
                <a:spcPts val="2900"/>
              </a:lnSpc>
              <a:buNone/>
            </a:pPr>
            <a:r>
              <a:rPr lang="en-US" sz="2300" dirty="0">
                <a:solidFill>
                  <a:srgbClr val="CBCCCE"/>
                </a:solidFill>
                <a:latin typeface="Instrument Sans Semi Bold" pitchFamily="34" charset="0"/>
                <a:ea typeface="Instrument Sans Semi Bold" pitchFamily="34" charset="-122"/>
                <a:cs typeface="Instrument Sans Semi Bold" pitchFamily="34" charset="-120"/>
              </a:rPr>
              <a:t>Initial Data Inspection</a:t>
            </a:r>
            <a:endParaRPr lang="en-US" sz="2300" dirty="0"/>
          </a:p>
        </p:txBody>
      </p:sp>
      <p:sp>
        <p:nvSpPr>
          <p:cNvPr id="4" name="Text 2"/>
          <p:cNvSpPr/>
          <p:nvPr/>
        </p:nvSpPr>
        <p:spPr>
          <a:xfrm>
            <a:off x="793790" y="3519368"/>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The dataset contained 350 entries with various details like Rank, Title, Year, Episodes, Rating, Description, Genre, Tags, and Actors. Initial inspection revealed that the 'Rank' column was stored as an object (string) and 'Tags' were not needed.</a:t>
            </a:r>
            <a:endParaRPr lang="en-US" sz="1550" dirty="0"/>
          </a:p>
        </p:txBody>
      </p:sp>
      <p:sp>
        <p:nvSpPr>
          <p:cNvPr id="5" name="Text 3"/>
          <p:cNvSpPr/>
          <p:nvPr/>
        </p:nvSpPr>
        <p:spPr>
          <a:xfrm>
            <a:off x="7564874" y="2948940"/>
            <a:ext cx="3430905" cy="372070"/>
          </a:xfrm>
          <a:prstGeom prst="rect">
            <a:avLst/>
          </a:prstGeom>
          <a:noFill/>
          <a:ln/>
        </p:spPr>
        <p:txBody>
          <a:bodyPr wrap="none" lIns="0" tIns="0" rIns="0" bIns="0" rtlCol="0" anchor="t"/>
          <a:lstStyle/>
          <a:p>
            <a:pPr marL="0" indent="0" algn="l">
              <a:lnSpc>
                <a:spcPts val="2900"/>
              </a:lnSpc>
              <a:buNone/>
            </a:pPr>
            <a:r>
              <a:rPr lang="en-US" sz="2300" dirty="0">
                <a:solidFill>
                  <a:srgbClr val="CBCCCE"/>
                </a:solidFill>
                <a:latin typeface="Instrument Sans Semi Bold" pitchFamily="34" charset="0"/>
                <a:ea typeface="Instrument Sans Semi Bold" pitchFamily="34" charset="-122"/>
                <a:cs typeface="Instrument Sans Semi Bold" pitchFamily="34" charset="-120"/>
              </a:rPr>
              <a:t>Data Cleaning &amp; Insights</a:t>
            </a:r>
            <a:endParaRPr lang="en-US" sz="2300" dirty="0"/>
          </a:p>
        </p:txBody>
      </p:sp>
      <p:sp>
        <p:nvSpPr>
          <p:cNvPr id="6" name="Text 4"/>
          <p:cNvSpPr/>
          <p:nvPr/>
        </p:nvSpPr>
        <p:spPr>
          <a:xfrm>
            <a:off x="7564874" y="3519368"/>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The 'Rank' column was cleaned by removing the '#' symbol and converting it to an integer. The 'Tags' column was dropped. No null values were found, ensuring data integrity. This step was crucial for accurate analysis and visualization.</a:t>
            </a:r>
            <a:endParaRPr lang="en-US" sz="1550" dirty="0"/>
          </a:p>
        </p:txBody>
      </p:sp>
      <p:sp>
        <p:nvSpPr>
          <p:cNvPr id="7" name="Shape 5"/>
          <p:cNvSpPr/>
          <p:nvPr/>
        </p:nvSpPr>
        <p:spPr>
          <a:xfrm>
            <a:off x="7564874" y="5012769"/>
            <a:ext cx="6279356" cy="1160740"/>
          </a:xfrm>
          <a:prstGeom prst="roundRect">
            <a:avLst>
              <a:gd name="adj" fmla="val 7182"/>
            </a:avLst>
          </a:prstGeom>
          <a:solidFill>
            <a:srgbClr val="252528"/>
          </a:solidFill>
          <a:ln/>
        </p:spPr>
      </p:sp>
      <p:pic>
        <p:nvPicPr>
          <p:cNvPr id="8" name="Image 0" descr="preencoded.png"/>
          <p:cNvPicPr>
            <a:picLocks noChangeAspect="1"/>
          </p:cNvPicPr>
          <p:nvPr/>
        </p:nvPicPr>
        <p:blipFill>
          <a:blip r:embed="rId3"/>
          <a:stretch>
            <a:fillRect/>
          </a:stretch>
        </p:blipFill>
        <p:spPr>
          <a:xfrm>
            <a:off x="7763232" y="5308044"/>
            <a:ext cx="248007" cy="198358"/>
          </a:xfrm>
          <a:prstGeom prst="rect">
            <a:avLst/>
          </a:prstGeom>
        </p:spPr>
      </p:pic>
      <p:sp>
        <p:nvSpPr>
          <p:cNvPr id="9" name="Text 6"/>
          <p:cNvSpPr/>
          <p:nvPr/>
        </p:nvSpPr>
        <p:spPr>
          <a:xfrm>
            <a:off x="8209598" y="5260658"/>
            <a:ext cx="5436275" cy="63507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Instrument Sans Medium" pitchFamily="34" charset="0"/>
                <a:ea typeface="Instrument Sans Medium" pitchFamily="34" charset="-122"/>
                <a:cs typeface="Instrument Sans Medium" pitchFamily="34" charset="-120"/>
              </a:rPr>
              <a:t>The 'Year of release' column had some missing years, which was deemed acceptable for the analysis.</a:t>
            </a:r>
            <a:endParaRPr lang="en-US" sz="1550" dirty="0"/>
          </a:p>
        </p:txBody>
      </p:sp>
      <p:sp>
        <p:nvSpPr>
          <p:cNvPr id="12" name="Rectangle 11">
            <a:extLst>
              <a:ext uri="{FF2B5EF4-FFF2-40B4-BE49-F238E27FC236}">
                <a16:creationId xmlns:a16="http://schemas.microsoft.com/office/drawing/2014/main" id="{8FE38ADD-0918-7116-6CC2-66FC46E351EC}"/>
              </a:ext>
            </a:extLst>
          </p:cNvPr>
          <p:cNvSpPr/>
          <p:nvPr/>
        </p:nvSpPr>
        <p:spPr>
          <a:xfrm>
            <a:off x="12821478" y="7752521"/>
            <a:ext cx="1689652" cy="397565"/>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8507897" y="2440424"/>
            <a:ext cx="5874258" cy="3642323"/>
          </a:xfrm>
          <a:prstGeom prst="rect">
            <a:avLst/>
          </a:prstGeom>
        </p:spPr>
      </p:pic>
      <p:sp>
        <p:nvSpPr>
          <p:cNvPr id="4" name="Text 0"/>
          <p:cNvSpPr/>
          <p:nvPr/>
        </p:nvSpPr>
        <p:spPr>
          <a:xfrm>
            <a:off x="793790" y="2440424"/>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Top Shows: Recent &amp; All-Time Favorites</a:t>
            </a:r>
            <a:endParaRPr lang="en-US" sz="3900" dirty="0"/>
          </a:p>
        </p:txBody>
      </p:sp>
      <p:sp>
        <p:nvSpPr>
          <p:cNvPr id="5" name="Text 1"/>
          <p:cNvSpPr/>
          <p:nvPr/>
        </p:nvSpPr>
        <p:spPr>
          <a:xfrm>
            <a:off x="793790" y="3978235"/>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The heatmap below highlights the Top 10 Shows from the past two years (2025 vs. 2024), comparing their Rank, Rating, and Number of Episodes.</a:t>
            </a:r>
            <a:endParaRPr lang="en-US" sz="1550" dirty="0"/>
          </a:p>
        </p:txBody>
      </p:sp>
      <p:sp>
        <p:nvSpPr>
          <p:cNvPr id="6" name="Text 2"/>
          <p:cNvSpPr/>
          <p:nvPr/>
        </p:nvSpPr>
        <p:spPr>
          <a:xfrm>
            <a:off x="793790" y="4836557"/>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The Top 3 Shows across both years combined are: </a:t>
            </a:r>
            <a:r>
              <a:rPr lang="en-US" sz="1550" b="1" dirty="0">
                <a:solidFill>
                  <a:srgbClr val="CFD0D8"/>
                </a:solidFill>
                <a:latin typeface="Instrument Sans Medium" pitchFamily="34" charset="0"/>
                <a:ea typeface="Instrument Sans Medium" pitchFamily="34" charset="-122"/>
                <a:cs typeface="Instrument Sans Medium" pitchFamily="34" charset="-120"/>
              </a:rPr>
              <a:t>The Trauma Code: Heroes on Call, Lovely Runner, and Study Group.</a:t>
            </a:r>
            <a:r>
              <a:rPr lang="en-US" sz="1550" dirty="0">
                <a:solidFill>
                  <a:srgbClr val="CFD0D8"/>
                </a:solidFill>
                <a:latin typeface="Instrument Sans Medium" pitchFamily="34" charset="0"/>
                <a:ea typeface="Instrument Sans Medium" pitchFamily="34" charset="-122"/>
                <a:cs typeface="Instrument Sans Medium" pitchFamily="34" charset="-120"/>
              </a:rPr>
              <a:t> All 11 top-rated Shows fall within a very high rating range of 9.1 to 9.2, indicating consistent excellence.</a:t>
            </a:r>
            <a:endParaRPr lang="en-US" sz="1550" dirty="0"/>
          </a:p>
        </p:txBody>
      </p:sp>
      <p:sp>
        <p:nvSpPr>
          <p:cNvPr id="7" name="Rectangle 6">
            <a:extLst>
              <a:ext uri="{FF2B5EF4-FFF2-40B4-BE49-F238E27FC236}">
                <a16:creationId xmlns:a16="http://schemas.microsoft.com/office/drawing/2014/main" id="{67DC65D6-278B-FC9D-D273-2084B719BCCB}"/>
              </a:ext>
            </a:extLst>
          </p:cNvPr>
          <p:cNvSpPr/>
          <p:nvPr/>
        </p:nvSpPr>
        <p:spPr>
          <a:xfrm>
            <a:off x="12821478" y="7752521"/>
            <a:ext cx="1689652" cy="397565"/>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8799063" y="2010400"/>
            <a:ext cx="5403953" cy="4337655"/>
          </a:xfrm>
          <a:prstGeom prst="rect">
            <a:avLst/>
          </a:prstGeom>
        </p:spPr>
      </p:pic>
      <p:sp>
        <p:nvSpPr>
          <p:cNvPr id="4" name="Text 0"/>
          <p:cNvSpPr/>
          <p:nvPr/>
        </p:nvSpPr>
        <p:spPr>
          <a:xfrm>
            <a:off x="793790" y="1852493"/>
            <a:ext cx="7142440" cy="620078"/>
          </a:xfrm>
          <a:prstGeom prst="rect">
            <a:avLst/>
          </a:prstGeom>
          <a:noFill/>
          <a:ln/>
        </p:spPr>
        <p:txBody>
          <a:bodyPr wrap="non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Show Rating Trends Over Time</a:t>
            </a:r>
            <a:endParaRPr lang="en-US" sz="3900" dirty="0"/>
          </a:p>
        </p:txBody>
      </p:sp>
      <p:sp>
        <p:nvSpPr>
          <p:cNvPr id="5" name="Text 1"/>
          <p:cNvSpPr/>
          <p:nvPr/>
        </p:nvSpPr>
        <p:spPr>
          <a:xfrm>
            <a:off x="793790" y="2770227"/>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The line plot illustrates the average Show ratings per year, revealing significant trends in audience reception.</a:t>
            </a:r>
            <a:endParaRPr lang="en-US" sz="1550" dirty="0"/>
          </a:p>
        </p:txBody>
      </p:sp>
      <p:sp>
        <p:nvSpPr>
          <p:cNvPr id="6" name="Text 2"/>
          <p:cNvSpPr/>
          <p:nvPr/>
        </p:nvSpPr>
        <p:spPr>
          <a:xfrm>
            <a:off x="793790" y="3628549"/>
            <a:ext cx="75564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CFD0D8"/>
                </a:solidFill>
                <a:latin typeface="Instrument Sans Medium" pitchFamily="34" charset="0"/>
                <a:ea typeface="Instrument Sans Medium" pitchFamily="34" charset="-122"/>
                <a:cs typeface="Instrument Sans Medium" pitchFamily="34" charset="-120"/>
              </a:rPr>
              <a:t>Early Stability (2003–2010):</a:t>
            </a:r>
            <a:r>
              <a:rPr lang="en-US" sz="1550" dirty="0">
                <a:solidFill>
                  <a:srgbClr val="CFD0D8"/>
                </a:solidFill>
                <a:latin typeface="Instrument Sans Medium" pitchFamily="34" charset="0"/>
                <a:ea typeface="Instrument Sans Medium" pitchFamily="34" charset="-122"/>
                <a:cs typeface="Instrument Sans Medium" pitchFamily="34" charset="-120"/>
              </a:rPr>
              <a:t> Ratings fluctuated slightly, staying in the mid-8.3 to 8.6 range.</a:t>
            </a:r>
            <a:endParaRPr lang="en-US" sz="1550" dirty="0"/>
          </a:p>
        </p:txBody>
      </p:sp>
      <p:sp>
        <p:nvSpPr>
          <p:cNvPr id="7" name="Text 3"/>
          <p:cNvSpPr/>
          <p:nvPr/>
        </p:nvSpPr>
        <p:spPr>
          <a:xfrm>
            <a:off x="793790" y="4333042"/>
            <a:ext cx="75564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CFD0D8"/>
                </a:solidFill>
                <a:latin typeface="Instrument Sans Medium" pitchFamily="34" charset="0"/>
                <a:ea typeface="Instrument Sans Medium" pitchFamily="34" charset="-122"/>
                <a:cs typeface="Instrument Sans Medium" pitchFamily="34" charset="-120"/>
              </a:rPr>
              <a:t>Strong Period (2013–2021):</a:t>
            </a:r>
            <a:r>
              <a:rPr lang="en-US" sz="1550" dirty="0">
                <a:solidFill>
                  <a:srgbClr val="CFD0D8"/>
                </a:solidFill>
                <a:latin typeface="Instrument Sans Medium" pitchFamily="34" charset="0"/>
                <a:ea typeface="Instrument Sans Medium" pitchFamily="34" charset="-122"/>
                <a:cs typeface="Instrument Sans Medium" pitchFamily="34" charset="-120"/>
              </a:rPr>
              <a:t> A consistent upward trend with peaks around 2016 and 2021 (≈8.6), indicating well-received Shows.</a:t>
            </a:r>
            <a:endParaRPr lang="en-US" sz="1550" dirty="0"/>
          </a:p>
        </p:txBody>
      </p:sp>
      <p:sp>
        <p:nvSpPr>
          <p:cNvPr id="8" name="Text 4"/>
          <p:cNvSpPr/>
          <p:nvPr/>
        </p:nvSpPr>
        <p:spPr>
          <a:xfrm>
            <a:off x="793790" y="5037534"/>
            <a:ext cx="75564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CFD0D8"/>
                </a:solidFill>
                <a:latin typeface="Instrument Sans Medium" pitchFamily="34" charset="0"/>
                <a:ea typeface="Instrument Sans Medium" pitchFamily="34" charset="-122"/>
                <a:cs typeface="Instrument Sans Medium" pitchFamily="34" charset="-120"/>
              </a:rPr>
              <a:t>Sharp Decline (2022–2024):</a:t>
            </a:r>
            <a:r>
              <a:rPr lang="en-US" sz="1550" dirty="0">
                <a:solidFill>
                  <a:srgbClr val="CFD0D8"/>
                </a:solidFill>
                <a:latin typeface="Instrument Sans Medium" pitchFamily="34" charset="0"/>
                <a:ea typeface="Instrument Sans Medium" pitchFamily="34" charset="-122"/>
                <a:cs typeface="Instrument Sans Medium" pitchFamily="34" charset="-120"/>
              </a:rPr>
              <a:t> A noticeable drop after 2021, with ratings falling below 8.0 in 2024, the lowest in the dataset.</a:t>
            </a:r>
            <a:endParaRPr lang="en-US" sz="1550" dirty="0"/>
          </a:p>
        </p:txBody>
      </p:sp>
      <p:sp>
        <p:nvSpPr>
          <p:cNvPr id="9" name="Text 5"/>
          <p:cNvSpPr/>
          <p:nvPr/>
        </p:nvSpPr>
        <p:spPr>
          <a:xfrm>
            <a:off x="793790" y="5742027"/>
            <a:ext cx="75564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CFD0D8"/>
                </a:solidFill>
                <a:latin typeface="Instrument Sans Medium" pitchFamily="34" charset="0"/>
                <a:ea typeface="Instrument Sans Medium" pitchFamily="34" charset="-122"/>
                <a:cs typeface="Instrument Sans Medium" pitchFamily="34" charset="-120"/>
              </a:rPr>
              <a:t>Partial Recovery (2025):</a:t>
            </a:r>
            <a:r>
              <a:rPr lang="en-US" sz="1550" dirty="0">
                <a:solidFill>
                  <a:srgbClr val="CFD0D8"/>
                </a:solidFill>
                <a:latin typeface="Instrument Sans Medium" pitchFamily="34" charset="0"/>
                <a:ea typeface="Instrument Sans Medium" pitchFamily="34" charset="-122"/>
                <a:cs typeface="Instrument Sans Medium" pitchFamily="34" charset="-120"/>
              </a:rPr>
              <a:t> A small rebound compared to 2024, but still below the 2016–2020 peak.</a:t>
            </a:r>
            <a:endParaRPr lang="en-US" sz="1550" dirty="0"/>
          </a:p>
        </p:txBody>
      </p:sp>
      <p:sp>
        <p:nvSpPr>
          <p:cNvPr id="10" name="Rectangle 9">
            <a:extLst>
              <a:ext uri="{FF2B5EF4-FFF2-40B4-BE49-F238E27FC236}">
                <a16:creationId xmlns:a16="http://schemas.microsoft.com/office/drawing/2014/main" id="{02CE42D4-CD99-4A5A-F1EB-0B5C3E475777}"/>
              </a:ext>
            </a:extLst>
          </p:cNvPr>
          <p:cNvSpPr/>
          <p:nvPr/>
        </p:nvSpPr>
        <p:spPr>
          <a:xfrm>
            <a:off x="12821478" y="7752521"/>
            <a:ext cx="1689652" cy="397565"/>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869519"/>
            <a:ext cx="11461313" cy="620078"/>
          </a:xfrm>
          <a:prstGeom prst="rect">
            <a:avLst/>
          </a:prstGeom>
          <a:noFill/>
          <a:ln/>
        </p:spPr>
        <p:txBody>
          <a:bodyPr wrap="non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Dynamic Insights: Genre, Actor, and Year Analysis</a:t>
            </a:r>
            <a:endParaRPr lang="en-US" sz="3900" dirty="0"/>
          </a:p>
        </p:txBody>
      </p:sp>
      <p:sp>
        <p:nvSpPr>
          <p:cNvPr id="3" name="Text 1"/>
          <p:cNvSpPr/>
          <p:nvPr/>
        </p:nvSpPr>
        <p:spPr>
          <a:xfrm>
            <a:off x="793790" y="278725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To provide flexible exploration, utility functions were developed to filter and visualize data based on specific genres, actors, or release years. This modular design ensures robust analysis and allows users to explore Shows from various perspectives.</a:t>
            </a:r>
            <a:endParaRPr lang="en-US" sz="1550" dirty="0"/>
          </a:p>
        </p:txBody>
      </p:sp>
      <p:sp>
        <p:nvSpPr>
          <p:cNvPr id="4" name="Shape 2"/>
          <p:cNvSpPr/>
          <p:nvPr/>
        </p:nvSpPr>
        <p:spPr>
          <a:xfrm>
            <a:off x="793790" y="3943231"/>
            <a:ext cx="4215289" cy="2416731"/>
          </a:xfrm>
          <a:prstGeom prst="roundRect">
            <a:avLst>
              <a:gd name="adj" fmla="val 4540"/>
            </a:avLst>
          </a:prstGeom>
          <a:solidFill>
            <a:srgbClr val="2A2A2D">
              <a:alpha val="95000"/>
            </a:srgbClr>
          </a:solidFill>
          <a:ln/>
        </p:spPr>
      </p:sp>
      <p:pic>
        <p:nvPicPr>
          <p:cNvPr id="5" name="Image 0" descr="preencoded.png"/>
          <p:cNvPicPr>
            <a:picLocks noChangeAspect="1"/>
          </p:cNvPicPr>
          <p:nvPr/>
        </p:nvPicPr>
        <p:blipFill>
          <a:blip r:embed="rId3"/>
          <a:stretch>
            <a:fillRect/>
          </a:stretch>
        </p:blipFill>
        <p:spPr>
          <a:xfrm>
            <a:off x="793790" y="3920371"/>
            <a:ext cx="4215289" cy="91440"/>
          </a:xfrm>
          <a:prstGeom prst="rect">
            <a:avLst/>
          </a:prstGeom>
        </p:spPr>
      </p:pic>
      <p:sp>
        <p:nvSpPr>
          <p:cNvPr id="8" name="Text 3"/>
          <p:cNvSpPr/>
          <p:nvPr/>
        </p:nvSpPr>
        <p:spPr>
          <a:xfrm>
            <a:off x="1015008" y="443936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Top Shows by Genre</a:t>
            </a:r>
            <a:endParaRPr lang="en-US" sz="1950" dirty="0"/>
          </a:p>
        </p:txBody>
      </p:sp>
      <p:sp>
        <p:nvSpPr>
          <p:cNvPr id="9" name="Text 4"/>
          <p:cNvSpPr/>
          <p:nvPr/>
        </p:nvSpPr>
        <p:spPr>
          <a:xfrm>
            <a:off x="1015008" y="4868585"/>
            <a:ext cx="3772853" cy="127015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Filters and visualizes top shows within a selected genre, helping viewers discover new favorites and providing insights for content creators.</a:t>
            </a:r>
            <a:endParaRPr lang="en-US" sz="1550" dirty="0"/>
          </a:p>
        </p:txBody>
      </p:sp>
      <p:sp>
        <p:nvSpPr>
          <p:cNvPr id="10" name="Shape 5"/>
          <p:cNvSpPr/>
          <p:nvPr/>
        </p:nvSpPr>
        <p:spPr>
          <a:xfrm>
            <a:off x="5207437" y="3943231"/>
            <a:ext cx="4215408" cy="2416731"/>
          </a:xfrm>
          <a:prstGeom prst="roundRect">
            <a:avLst>
              <a:gd name="adj" fmla="val 4540"/>
            </a:avLst>
          </a:prstGeom>
          <a:solidFill>
            <a:srgbClr val="2A2A2D">
              <a:alpha val="95000"/>
            </a:srgbClr>
          </a:solidFill>
          <a:ln/>
        </p:spPr>
      </p:sp>
      <p:pic>
        <p:nvPicPr>
          <p:cNvPr id="11" name="Image 3" descr="preencoded.png"/>
          <p:cNvPicPr>
            <a:picLocks noChangeAspect="1"/>
          </p:cNvPicPr>
          <p:nvPr/>
        </p:nvPicPr>
        <p:blipFill>
          <a:blip r:embed="rId3"/>
          <a:stretch>
            <a:fillRect/>
          </a:stretch>
        </p:blipFill>
        <p:spPr>
          <a:xfrm>
            <a:off x="5207437" y="3920371"/>
            <a:ext cx="4215408" cy="91440"/>
          </a:xfrm>
          <a:prstGeom prst="rect">
            <a:avLst/>
          </a:prstGeom>
        </p:spPr>
      </p:pic>
      <p:sp>
        <p:nvSpPr>
          <p:cNvPr id="14" name="Text 6"/>
          <p:cNvSpPr/>
          <p:nvPr/>
        </p:nvSpPr>
        <p:spPr>
          <a:xfrm>
            <a:off x="5428655" y="443936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Top Shows by Actor</a:t>
            </a:r>
            <a:endParaRPr lang="en-US" sz="1950" dirty="0"/>
          </a:p>
        </p:txBody>
      </p:sp>
      <p:sp>
        <p:nvSpPr>
          <p:cNvPr id="15" name="Text 7"/>
          <p:cNvSpPr/>
          <p:nvPr/>
        </p:nvSpPr>
        <p:spPr>
          <a:xfrm>
            <a:off x="5428655" y="4868585"/>
            <a:ext cx="3772972" cy="127015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Identifies and displays top shows featuring a specific actor, useful for fans and producers alike to see actor performance trends.</a:t>
            </a:r>
            <a:endParaRPr lang="en-US" sz="1550" dirty="0"/>
          </a:p>
        </p:txBody>
      </p:sp>
      <p:sp>
        <p:nvSpPr>
          <p:cNvPr id="16" name="Shape 8"/>
          <p:cNvSpPr/>
          <p:nvPr/>
        </p:nvSpPr>
        <p:spPr>
          <a:xfrm>
            <a:off x="9621203" y="3943231"/>
            <a:ext cx="4215289" cy="2416731"/>
          </a:xfrm>
          <a:prstGeom prst="roundRect">
            <a:avLst>
              <a:gd name="adj" fmla="val 4540"/>
            </a:avLst>
          </a:prstGeom>
          <a:solidFill>
            <a:srgbClr val="2A2A2D">
              <a:alpha val="95000"/>
            </a:srgbClr>
          </a:solidFill>
          <a:ln/>
        </p:spPr>
      </p:sp>
      <p:pic>
        <p:nvPicPr>
          <p:cNvPr id="17" name="Image 6" descr="preencoded.png"/>
          <p:cNvPicPr>
            <a:picLocks noChangeAspect="1"/>
          </p:cNvPicPr>
          <p:nvPr/>
        </p:nvPicPr>
        <p:blipFill>
          <a:blip r:embed="rId3"/>
          <a:stretch>
            <a:fillRect/>
          </a:stretch>
        </p:blipFill>
        <p:spPr>
          <a:xfrm>
            <a:off x="9621203" y="3920371"/>
            <a:ext cx="4215289" cy="91440"/>
          </a:xfrm>
          <a:prstGeom prst="rect">
            <a:avLst/>
          </a:prstGeom>
        </p:spPr>
      </p:pic>
      <p:pic>
        <p:nvPicPr>
          <p:cNvPr id="18" name="Image 7" descr="preencoded.png"/>
          <p:cNvPicPr>
            <a:picLocks noChangeAspect="1"/>
          </p:cNvPicPr>
          <p:nvPr/>
        </p:nvPicPr>
        <p:blipFill>
          <a:blip r:embed="rId4"/>
          <a:stretch>
            <a:fillRect/>
          </a:stretch>
        </p:blipFill>
        <p:spPr>
          <a:xfrm>
            <a:off x="11431191" y="3645575"/>
            <a:ext cx="595313" cy="595313"/>
          </a:xfrm>
          <a:prstGeom prst="rect">
            <a:avLst/>
          </a:prstGeom>
        </p:spPr>
      </p:pic>
      <p:sp>
        <p:nvSpPr>
          <p:cNvPr id="20" name="Text 9"/>
          <p:cNvSpPr/>
          <p:nvPr/>
        </p:nvSpPr>
        <p:spPr>
          <a:xfrm>
            <a:off x="9842421" y="443936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Top Shows by Year</a:t>
            </a:r>
            <a:endParaRPr lang="en-US" sz="1950" dirty="0"/>
          </a:p>
        </p:txBody>
      </p:sp>
      <p:sp>
        <p:nvSpPr>
          <p:cNvPr id="21" name="Text 10"/>
          <p:cNvSpPr/>
          <p:nvPr/>
        </p:nvSpPr>
        <p:spPr>
          <a:xfrm>
            <a:off x="9842421" y="4868585"/>
            <a:ext cx="3772853" cy="127015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Showcases the highest-rated shows from a particular release year, highlighting annual trends and popular titles.</a:t>
            </a:r>
            <a:endParaRPr lang="en-US" sz="1550" dirty="0"/>
          </a:p>
        </p:txBody>
      </p:sp>
      <p:sp>
        <p:nvSpPr>
          <p:cNvPr id="22" name="Rectangle 21">
            <a:extLst>
              <a:ext uri="{FF2B5EF4-FFF2-40B4-BE49-F238E27FC236}">
                <a16:creationId xmlns:a16="http://schemas.microsoft.com/office/drawing/2014/main" id="{52A4E9DE-B6F2-434E-CB97-46155C05BA24}"/>
              </a:ext>
            </a:extLst>
          </p:cNvPr>
          <p:cNvSpPr/>
          <p:nvPr/>
        </p:nvSpPr>
        <p:spPr>
          <a:xfrm>
            <a:off x="12821478" y="7752521"/>
            <a:ext cx="1689652" cy="397565"/>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8617369" y="2806164"/>
            <a:ext cx="5764905" cy="3301881"/>
          </a:xfrm>
          <a:prstGeom prst="rect">
            <a:avLst/>
          </a:prstGeom>
        </p:spPr>
      </p:pic>
      <p:sp>
        <p:nvSpPr>
          <p:cNvPr id="4" name="Text 0"/>
          <p:cNvSpPr/>
          <p:nvPr/>
        </p:nvSpPr>
        <p:spPr>
          <a:xfrm>
            <a:off x="793790" y="2363510"/>
            <a:ext cx="7421761" cy="620078"/>
          </a:xfrm>
          <a:prstGeom prst="rect">
            <a:avLst/>
          </a:prstGeom>
          <a:noFill/>
          <a:ln/>
        </p:spPr>
        <p:txBody>
          <a:bodyPr wrap="non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Genre Spotlight: Top Life Shows</a:t>
            </a:r>
            <a:endParaRPr lang="en-US" sz="3900" dirty="0"/>
          </a:p>
        </p:txBody>
      </p:sp>
      <p:sp>
        <p:nvSpPr>
          <p:cNvPr id="5" name="Text 1"/>
          <p:cNvSpPr/>
          <p:nvPr/>
        </p:nvSpPr>
        <p:spPr>
          <a:xfrm>
            <a:off x="793790" y="3281243"/>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The bar chart below highlights the Top 10 Life-genre shows based on their ratings and number of episodes. This provides valuable insights for viewers and content creators.</a:t>
            </a:r>
            <a:endParaRPr lang="en-US" sz="1550" dirty="0"/>
          </a:p>
        </p:txBody>
      </p:sp>
      <p:sp>
        <p:nvSpPr>
          <p:cNvPr id="6" name="Text 2"/>
          <p:cNvSpPr/>
          <p:nvPr/>
        </p:nvSpPr>
        <p:spPr>
          <a:xfrm>
            <a:off x="793790" y="4457105"/>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Ratings for Life-genre shows range between 8.8 and 9.2.</a:t>
            </a:r>
            <a:endParaRPr lang="en-US" sz="1550" dirty="0"/>
          </a:p>
        </p:txBody>
      </p:sp>
      <p:sp>
        <p:nvSpPr>
          <p:cNvPr id="7" name="Text 3"/>
          <p:cNvSpPr/>
          <p:nvPr/>
        </p:nvSpPr>
        <p:spPr>
          <a:xfrm>
            <a:off x="793790" y="4844058"/>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CFD0D8"/>
                </a:solidFill>
                <a:latin typeface="Instrument Sans Medium" pitchFamily="34" charset="0"/>
                <a:ea typeface="Instrument Sans Medium" pitchFamily="34" charset="-122"/>
                <a:cs typeface="Instrument Sans Medium" pitchFamily="34" charset="-120"/>
              </a:rPr>
              <a:t>Move to Heaven</a:t>
            </a:r>
            <a:r>
              <a:rPr lang="en-US" sz="1550" dirty="0">
                <a:solidFill>
                  <a:srgbClr val="CFD0D8"/>
                </a:solidFill>
                <a:latin typeface="Instrument Sans Medium" pitchFamily="34" charset="0"/>
                <a:ea typeface="Instrument Sans Medium" pitchFamily="34" charset="-122"/>
                <a:cs typeface="Instrument Sans Medium" pitchFamily="34" charset="-120"/>
              </a:rPr>
              <a:t> leads with the highest rating (9.2).</a:t>
            </a:r>
            <a:endParaRPr lang="en-US" sz="1550" dirty="0"/>
          </a:p>
        </p:txBody>
      </p:sp>
      <p:sp>
        <p:nvSpPr>
          <p:cNvPr id="8" name="Text 4"/>
          <p:cNvSpPr/>
          <p:nvPr/>
        </p:nvSpPr>
        <p:spPr>
          <a:xfrm>
            <a:off x="793790" y="5231011"/>
            <a:ext cx="7556421"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Episode counts vary, indicating that high ratings are not strictly dependent on series length.</a:t>
            </a:r>
            <a:endParaRPr lang="en-US" sz="1550" dirty="0"/>
          </a:p>
        </p:txBody>
      </p:sp>
      <p:sp>
        <p:nvSpPr>
          <p:cNvPr id="9" name="Rectangle 8">
            <a:extLst>
              <a:ext uri="{FF2B5EF4-FFF2-40B4-BE49-F238E27FC236}">
                <a16:creationId xmlns:a16="http://schemas.microsoft.com/office/drawing/2014/main" id="{06074EF5-ADB8-A62F-E8BC-D30414DB3544}"/>
              </a:ext>
            </a:extLst>
          </p:cNvPr>
          <p:cNvSpPr/>
          <p:nvPr/>
        </p:nvSpPr>
        <p:spPr>
          <a:xfrm>
            <a:off x="12821478" y="7752521"/>
            <a:ext cx="1689652" cy="397565"/>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8350211" y="2675266"/>
            <a:ext cx="5991698" cy="3059612"/>
          </a:xfrm>
          <a:prstGeom prst="rect">
            <a:avLst/>
          </a:prstGeom>
        </p:spPr>
      </p:pic>
      <p:sp>
        <p:nvSpPr>
          <p:cNvPr id="4" name="Text 0"/>
          <p:cNvSpPr/>
          <p:nvPr/>
        </p:nvSpPr>
        <p:spPr>
          <a:xfrm>
            <a:off x="793790" y="2053471"/>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Actor Spotlight: Yoo Yeon Seok's Top Performances</a:t>
            </a:r>
            <a:endParaRPr lang="en-US" sz="3900" dirty="0"/>
          </a:p>
        </p:txBody>
      </p:sp>
      <p:sp>
        <p:nvSpPr>
          <p:cNvPr id="5" name="Text 1"/>
          <p:cNvSpPr/>
          <p:nvPr/>
        </p:nvSpPr>
        <p:spPr>
          <a:xfrm>
            <a:off x="793790" y="3591282"/>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This chart showcases the Top 5 Shows featuring actor Yoo Yeon Seok, based on their ratings and episode counts. This helps fans find his best work and offers insights into his consistent performance in highly-rated Shows.</a:t>
            </a:r>
            <a:endParaRPr lang="en-US" sz="1550" dirty="0"/>
          </a:p>
        </p:txBody>
      </p:sp>
      <p:sp>
        <p:nvSpPr>
          <p:cNvPr id="6" name="Text 2"/>
          <p:cNvSpPr/>
          <p:nvPr/>
        </p:nvSpPr>
        <p:spPr>
          <a:xfrm>
            <a:off x="793790" y="4767143"/>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Yoo Yeon Seok's Shows range in ratings from 8.3 to 9.1.</a:t>
            </a:r>
            <a:endParaRPr lang="en-US" sz="1550" dirty="0"/>
          </a:p>
        </p:txBody>
      </p:sp>
      <p:sp>
        <p:nvSpPr>
          <p:cNvPr id="7" name="Text 3"/>
          <p:cNvSpPr/>
          <p:nvPr/>
        </p:nvSpPr>
        <p:spPr>
          <a:xfrm>
            <a:off x="793790" y="5154097"/>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CFD0D8"/>
                </a:solidFill>
                <a:latin typeface="Instrument Sans Medium" pitchFamily="34" charset="0"/>
                <a:ea typeface="Instrument Sans Medium" pitchFamily="34" charset="-122"/>
                <a:cs typeface="Instrument Sans Medium" pitchFamily="34" charset="-120"/>
              </a:rPr>
              <a:t>Hospital Playlist</a:t>
            </a:r>
            <a:r>
              <a:rPr lang="en-US" sz="1550" dirty="0">
                <a:solidFill>
                  <a:srgbClr val="CFD0D8"/>
                </a:solidFill>
                <a:latin typeface="Instrument Sans Medium" pitchFamily="34" charset="0"/>
                <a:ea typeface="Instrument Sans Medium" pitchFamily="34" charset="-122"/>
                <a:cs typeface="Instrument Sans Medium" pitchFamily="34" charset="-120"/>
              </a:rPr>
              <a:t> leads with the highest rating (9.1).</a:t>
            </a:r>
            <a:endParaRPr lang="en-US" sz="1550" dirty="0"/>
          </a:p>
        </p:txBody>
      </p:sp>
      <p:sp>
        <p:nvSpPr>
          <p:cNvPr id="8" name="Text 4"/>
          <p:cNvSpPr/>
          <p:nvPr/>
        </p:nvSpPr>
        <p:spPr>
          <a:xfrm>
            <a:off x="793790" y="5541050"/>
            <a:ext cx="7556421"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Episode counts vary, demonstrating that his strong performances are not tied to series length.</a:t>
            </a:r>
            <a:endParaRPr lang="en-US" sz="1550" dirty="0"/>
          </a:p>
        </p:txBody>
      </p:sp>
      <p:sp>
        <p:nvSpPr>
          <p:cNvPr id="9" name="Rectangle 8">
            <a:extLst>
              <a:ext uri="{FF2B5EF4-FFF2-40B4-BE49-F238E27FC236}">
                <a16:creationId xmlns:a16="http://schemas.microsoft.com/office/drawing/2014/main" id="{F835FC62-1F9F-8709-7772-C98A48E34C7B}"/>
              </a:ext>
            </a:extLst>
          </p:cNvPr>
          <p:cNvSpPr/>
          <p:nvPr/>
        </p:nvSpPr>
        <p:spPr>
          <a:xfrm>
            <a:off x="12821478" y="7752521"/>
            <a:ext cx="1689652" cy="397565"/>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8796575" y="2027028"/>
            <a:ext cx="5477357" cy="4176367"/>
          </a:xfrm>
          <a:prstGeom prst="rect">
            <a:avLst/>
          </a:prstGeom>
        </p:spPr>
      </p:pic>
      <p:sp>
        <p:nvSpPr>
          <p:cNvPr id="4" name="Text 0"/>
          <p:cNvSpPr/>
          <p:nvPr/>
        </p:nvSpPr>
        <p:spPr>
          <a:xfrm>
            <a:off x="793790" y="1748433"/>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Predicting Success: Rank vs. Rating</a:t>
            </a:r>
            <a:endParaRPr lang="en-US" sz="3900" dirty="0"/>
          </a:p>
        </p:txBody>
      </p:sp>
      <p:sp>
        <p:nvSpPr>
          <p:cNvPr id="5" name="Text 1"/>
          <p:cNvSpPr/>
          <p:nvPr/>
        </p:nvSpPr>
        <p:spPr>
          <a:xfrm>
            <a:off x="793790" y="3286244"/>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There is a strong negative correlation between a show's Rank and Rating. As the rating increases, the rank value decreases (closer to Rank 1), meaning higher-rated shows achieve better ranks.</a:t>
            </a:r>
            <a:endParaRPr lang="en-US" sz="1550" dirty="0"/>
          </a:p>
        </p:txBody>
      </p:sp>
      <p:sp>
        <p:nvSpPr>
          <p:cNvPr id="6" name="Text 2"/>
          <p:cNvSpPr/>
          <p:nvPr/>
        </p:nvSpPr>
        <p:spPr>
          <a:xfrm>
            <a:off x="793790" y="4462105"/>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A linear regression model was built to predict a show's rank based on its rating, achieving an R² Score of 0.81 and an RMSE of 44.11. This confirms that ratings are a reliable predictor of rank, though additional features could enhance accuracy.</a:t>
            </a:r>
            <a:endParaRPr lang="en-US" sz="1550" dirty="0"/>
          </a:p>
        </p:txBody>
      </p:sp>
      <p:sp>
        <p:nvSpPr>
          <p:cNvPr id="7" name="Shape 3"/>
          <p:cNvSpPr/>
          <p:nvPr/>
        </p:nvSpPr>
        <p:spPr>
          <a:xfrm>
            <a:off x="793790" y="5637967"/>
            <a:ext cx="7556421" cy="843201"/>
          </a:xfrm>
          <a:prstGeom prst="roundRect">
            <a:avLst>
              <a:gd name="adj" fmla="val 9886"/>
            </a:avLst>
          </a:prstGeom>
          <a:solidFill>
            <a:srgbClr val="252528"/>
          </a:solidFill>
          <a:ln/>
        </p:spPr>
      </p:sp>
      <p:pic>
        <p:nvPicPr>
          <p:cNvPr id="8" name="Image 2" descr="preencoded.png"/>
          <p:cNvPicPr>
            <a:picLocks noChangeAspect="1"/>
          </p:cNvPicPr>
          <p:nvPr/>
        </p:nvPicPr>
        <p:blipFill>
          <a:blip r:embed="rId4"/>
          <a:stretch>
            <a:fillRect/>
          </a:stretch>
        </p:blipFill>
        <p:spPr>
          <a:xfrm>
            <a:off x="992148" y="5933242"/>
            <a:ext cx="248007" cy="198358"/>
          </a:xfrm>
          <a:prstGeom prst="rect">
            <a:avLst/>
          </a:prstGeom>
        </p:spPr>
      </p:pic>
      <p:sp>
        <p:nvSpPr>
          <p:cNvPr id="9" name="Text 4"/>
          <p:cNvSpPr/>
          <p:nvPr/>
        </p:nvSpPr>
        <p:spPr>
          <a:xfrm>
            <a:off x="1438513" y="5885855"/>
            <a:ext cx="6713339"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Instrument Sans Medium" pitchFamily="34" charset="0"/>
                <a:ea typeface="Instrument Sans Medium" pitchFamily="34" charset="-122"/>
                <a:cs typeface="Instrument Sans Medium" pitchFamily="34" charset="-120"/>
              </a:rPr>
              <a:t>For a rating of 8.6, the predicted rank is approximately 130.7</a:t>
            </a:r>
            <a:endParaRPr lang="en-US" sz="1550" dirty="0"/>
          </a:p>
        </p:txBody>
      </p:sp>
      <p:sp>
        <p:nvSpPr>
          <p:cNvPr id="10" name="Rectangle 9">
            <a:extLst>
              <a:ext uri="{FF2B5EF4-FFF2-40B4-BE49-F238E27FC236}">
                <a16:creationId xmlns:a16="http://schemas.microsoft.com/office/drawing/2014/main" id="{F9992988-5664-B0F9-95A1-919770B27581}"/>
              </a:ext>
            </a:extLst>
          </p:cNvPr>
          <p:cNvSpPr/>
          <p:nvPr/>
        </p:nvSpPr>
        <p:spPr>
          <a:xfrm>
            <a:off x="12821478" y="7752521"/>
            <a:ext cx="1689652" cy="397565"/>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8350211" y="2083832"/>
            <a:ext cx="5917269" cy="3898821"/>
          </a:xfrm>
          <a:prstGeom prst="rect">
            <a:avLst/>
          </a:prstGeom>
        </p:spPr>
      </p:pic>
      <p:sp>
        <p:nvSpPr>
          <p:cNvPr id="4" name="Text 0"/>
          <p:cNvSpPr/>
          <p:nvPr/>
        </p:nvSpPr>
        <p:spPr>
          <a:xfrm>
            <a:off x="793790" y="1086088"/>
            <a:ext cx="7556421" cy="1860233"/>
          </a:xfrm>
          <a:prstGeom prst="rect">
            <a:avLst/>
          </a:prstGeom>
          <a:noFill/>
          <a:ln/>
        </p:spPr>
        <p:txBody>
          <a:bodyPr wrap="squar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Personalized Recommendations: Discover Your Next Show</a:t>
            </a:r>
            <a:endParaRPr lang="en-US" sz="3900" dirty="0"/>
          </a:p>
        </p:txBody>
      </p:sp>
      <p:sp>
        <p:nvSpPr>
          <p:cNvPr id="5" name="Text 1"/>
          <p:cNvSpPr/>
          <p:nvPr/>
        </p:nvSpPr>
        <p:spPr>
          <a:xfrm>
            <a:off x="793790" y="3243977"/>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A content-based recommendation system was developed using TF-IDF vectorization of genres and actors, combined with cosine similarity. This system suggests Shows similar to a user's favorite titles, enhancing personalized viewing experiences.</a:t>
            </a:r>
            <a:endParaRPr lang="en-US" sz="1550" dirty="0"/>
          </a:p>
        </p:txBody>
      </p:sp>
      <p:sp>
        <p:nvSpPr>
          <p:cNvPr id="6" name="Text 2"/>
          <p:cNvSpPr/>
          <p:nvPr/>
        </p:nvSpPr>
        <p:spPr>
          <a:xfrm>
            <a:off x="793790" y="4737378"/>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For example, if you enjoyed 'Study Group', the system recommends:</a:t>
            </a:r>
            <a:endParaRPr lang="en-US" sz="1550" dirty="0"/>
          </a:p>
        </p:txBody>
      </p:sp>
      <p:sp>
        <p:nvSpPr>
          <p:cNvPr id="7" name="Text 3"/>
          <p:cNvSpPr/>
          <p:nvPr/>
        </p:nvSpPr>
        <p:spPr>
          <a:xfrm>
            <a:off x="793790" y="5278160"/>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CFD0D8"/>
                </a:solidFill>
                <a:latin typeface="Instrument Sans Medium" pitchFamily="34" charset="0"/>
                <a:ea typeface="Instrument Sans Medium" pitchFamily="34" charset="-122"/>
                <a:cs typeface="Instrument Sans Medium" pitchFamily="34" charset="-120"/>
              </a:rPr>
              <a:t>Weak Hero Class 1</a:t>
            </a:r>
            <a:r>
              <a:rPr lang="en-US" sz="1550" dirty="0">
                <a:solidFill>
                  <a:srgbClr val="CFD0D8"/>
                </a:solidFill>
                <a:latin typeface="Instrument Sans Medium" pitchFamily="34" charset="0"/>
                <a:ea typeface="Instrument Sans Medium" pitchFamily="34" charset="-122"/>
                <a:cs typeface="Instrument Sans Medium" pitchFamily="34" charset="-120"/>
              </a:rPr>
              <a:t> (~8.8 Rating)</a:t>
            </a:r>
            <a:endParaRPr lang="en-US" sz="1550" dirty="0"/>
          </a:p>
        </p:txBody>
      </p:sp>
      <p:sp>
        <p:nvSpPr>
          <p:cNvPr id="8" name="Text 4"/>
          <p:cNvSpPr/>
          <p:nvPr/>
        </p:nvSpPr>
        <p:spPr>
          <a:xfrm>
            <a:off x="793790" y="5665113"/>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CFD0D8"/>
                </a:solidFill>
                <a:latin typeface="Instrument Sans Medium" pitchFamily="34" charset="0"/>
                <a:ea typeface="Instrument Sans Medium" pitchFamily="34" charset="-122"/>
                <a:cs typeface="Instrument Sans Medium" pitchFamily="34" charset="-120"/>
              </a:rPr>
              <a:t>Flex X Cop</a:t>
            </a:r>
            <a:r>
              <a:rPr lang="en-US" sz="1550" dirty="0">
                <a:solidFill>
                  <a:srgbClr val="CFD0D8"/>
                </a:solidFill>
                <a:latin typeface="Instrument Sans Medium" pitchFamily="34" charset="0"/>
                <a:ea typeface="Instrument Sans Medium" pitchFamily="34" charset="-122"/>
                <a:cs typeface="Instrument Sans Medium" pitchFamily="34" charset="-120"/>
              </a:rPr>
              <a:t> (~8.5 Rating)</a:t>
            </a:r>
            <a:endParaRPr lang="en-US" sz="1550" dirty="0"/>
          </a:p>
        </p:txBody>
      </p:sp>
      <p:sp>
        <p:nvSpPr>
          <p:cNvPr id="9" name="Text 5"/>
          <p:cNvSpPr/>
          <p:nvPr/>
        </p:nvSpPr>
        <p:spPr>
          <a:xfrm>
            <a:off x="793790" y="6052066"/>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CFD0D8"/>
                </a:solidFill>
                <a:latin typeface="Instrument Sans Medium" pitchFamily="34" charset="0"/>
                <a:ea typeface="Instrument Sans Medium" pitchFamily="34" charset="-122"/>
                <a:cs typeface="Instrument Sans Medium" pitchFamily="34" charset="-120"/>
              </a:rPr>
              <a:t>Seasons of Blossom</a:t>
            </a:r>
            <a:r>
              <a:rPr lang="en-US" sz="1550" dirty="0">
                <a:solidFill>
                  <a:srgbClr val="CFD0D8"/>
                </a:solidFill>
                <a:latin typeface="Instrument Sans Medium" pitchFamily="34" charset="0"/>
                <a:ea typeface="Instrument Sans Medium" pitchFamily="34" charset="-122"/>
                <a:cs typeface="Instrument Sans Medium" pitchFamily="34" charset="-120"/>
              </a:rPr>
              <a:t> (~8.3 Rating)</a:t>
            </a:r>
            <a:endParaRPr lang="en-US" sz="1550" dirty="0"/>
          </a:p>
        </p:txBody>
      </p:sp>
      <p:sp>
        <p:nvSpPr>
          <p:cNvPr id="10" name="Text 6"/>
          <p:cNvSpPr/>
          <p:nvPr/>
        </p:nvSpPr>
        <p:spPr>
          <a:xfrm>
            <a:off x="793790" y="6439019"/>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CFD0D8"/>
                </a:solidFill>
                <a:latin typeface="Instrument Sans Medium" pitchFamily="34" charset="0"/>
                <a:ea typeface="Instrument Sans Medium" pitchFamily="34" charset="-122"/>
                <a:cs typeface="Instrument Sans Medium" pitchFamily="34" charset="-120"/>
              </a:rPr>
              <a:t>True Beauty</a:t>
            </a:r>
            <a:r>
              <a:rPr lang="en-US" sz="1550" dirty="0">
                <a:solidFill>
                  <a:srgbClr val="CFD0D8"/>
                </a:solidFill>
                <a:latin typeface="Instrument Sans Medium" pitchFamily="34" charset="0"/>
                <a:ea typeface="Instrument Sans Medium" pitchFamily="34" charset="-122"/>
                <a:cs typeface="Instrument Sans Medium" pitchFamily="34" charset="-120"/>
              </a:rPr>
              <a:t> (~8.2 Rating)</a:t>
            </a:r>
            <a:endParaRPr lang="en-US" sz="1550" dirty="0"/>
          </a:p>
        </p:txBody>
      </p:sp>
      <p:sp>
        <p:nvSpPr>
          <p:cNvPr id="11" name="Text 7"/>
          <p:cNvSpPr/>
          <p:nvPr/>
        </p:nvSpPr>
        <p:spPr>
          <a:xfrm>
            <a:off x="793790" y="6825972"/>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CFD0D8"/>
                </a:solidFill>
                <a:latin typeface="Instrument Sans Medium" pitchFamily="34" charset="0"/>
                <a:ea typeface="Instrument Sans Medium" pitchFamily="34" charset="-122"/>
                <a:cs typeface="Instrument Sans Medium" pitchFamily="34" charset="-120"/>
              </a:rPr>
              <a:t>Hierarchy</a:t>
            </a:r>
            <a:r>
              <a:rPr lang="en-US" sz="1550" dirty="0">
                <a:solidFill>
                  <a:srgbClr val="CFD0D8"/>
                </a:solidFill>
                <a:latin typeface="Instrument Sans Medium" pitchFamily="34" charset="0"/>
                <a:ea typeface="Instrument Sans Medium" pitchFamily="34" charset="-122"/>
                <a:cs typeface="Instrument Sans Medium" pitchFamily="34" charset="-120"/>
              </a:rPr>
              <a:t> (~6.8 Rating)</a:t>
            </a:r>
            <a:endParaRPr lang="en-US" sz="1550" dirty="0"/>
          </a:p>
        </p:txBody>
      </p:sp>
      <p:sp>
        <p:nvSpPr>
          <p:cNvPr id="12" name="Rectangle 11">
            <a:extLst>
              <a:ext uri="{FF2B5EF4-FFF2-40B4-BE49-F238E27FC236}">
                <a16:creationId xmlns:a16="http://schemas.microsoft.com/office/drawing/2014/main" id="{50016BFF-FF49-91E0-E053-0DBFFBAD1BDB}"/>
              </a:ext>
            </a:extLst>
          </p:cNvPr>
          <p:cNvSpPr/>
          <p:nvPr/>
        </p:nvSpPr>
        <p:spPr>
          <a:xfrm>
            <a:off x="12821478" y="7752521"/>
            <a:ext cx="1689652" cy="397565"/>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89503" y="542687"/>
            <a:ext cx="9388316" cy="616744"/>
          </a:xfrm>
          <a:prstGeom prst="rect">
            <a:avLst/>
          </a:prstGeom>
          <a:noFill/>
          <a:ln/>
        </p:spPr>
        <p:txBody>
          <a:bodyPr wrap="none" lIns="0" tIns="0" rIns="0" bIns="0" rtlCol="0" anchor="t"/>
          <a:lstStyle/>
          <a:p>
            <a:pPr marL="0" indent="0" algn="l">
              <a:lnSpc>
                <a:spcPts val="4850"/>
              </a:lnSpc>
              <a:buNone/>
            </a:pPr>
            <a:r>
              <a:rPr lang="en-US" sz="3850" dirty="0">
                <a:solidFill>
                  <a:srgbClr val="CBCCCE"/>
                </a:solidFill>
                <a:latin typeface="Instrument Sans Semi Bold" pitchFamily="34" charset="0"/>
                <a:ea typeface="Instrument Sans Semi Bold" pitchFamily="34" charset="-122"/>
                <a:cs typeface="Instrument Sans Semi Bold" pitchFamily="34" charset="-120"/>
              </a:rPr>
              <a:t>From Raw Data to Interactive Experience</a:t>
            </a:r>
            <a:endParaRPr lang="en-US" sz="3850" dirty="0"/>
          </a:p>
        </p:txBody>
      </p:sp>
      <p:sp>
        <p:nvSpPr>
          <p:cNvPr id="3" name="Text 1"/>
          <p:cNvSpPr/>
          <p:nvPr/>
        </p:nvSpPr>
        <p:spPr>
          <a:xfrm>
            <a:off x="789503" y="1554123"/>
            <a:ext cx="13051393" cy="631507"/>
          </a:xfrm>
          <a:prstGeom prst="rect">
            <a:avLst/>
          </a:prstGeom>
          <a:noFill/>
          <a:ln/>
        </p:spPr>
        <p:txBody>
          <a:bodyPr wrap="square" lIns="0" tIns="0" rIns="0" bIns="0" rtlCol="0" anchor="t"/>
          <a:lstStyle/>
          <a:p>
            <a:pPr marL="0" indent="0" algn="l">
              <a:lnSpc>
                <a:spcPts val="245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A  complete rebuild from the ground up—working with a much larger dataset filtered to the last 5 years, and redesigning the entire pipeline for scalability and user experience.</a:t>
            </a:r>
            <a:endParaRPr lang="en-US" sz="1550" dirty="0"/>
          </a:p>
        </p:txBody>
      </p:sp>
      <p:sp>
        <p:nvSpPr>
          <p:cNvPr id="4" name="Text 2"/>
          <p:cNvSpPr/>
          <p:nvPr/>
        </p:nvSpPr>
        <p:spPr>
          <a:xfrm>
            <a:off x="789503" y="2407563"/>
            <a:ext cx="13051393" cy="631507"/>
          </a:xfrm>
          <a:prstGeom prst="rect">
            <a:avLst/>
          </a:prstGeom>
          <a:noFill/>
          <a:ln/>
        </p:spPr>
        <p:txBody>
          <a:bodyPr wrap="square" lIns="0" tIns="0" rIns="0" bIns="0" rtlCol="0" anchor="t"/>
          <a:lstStyle/>
          <a:p>
            <a:pPr marL="0" indent="0" algn="l">
              <a:lnSpc>
                <a:spcPts val="245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What started as a data challenge became a UI/UX challenge. The result: a Netflix-inspired Power BI dashboard that feels like a product, not a report.</a:t>
            </a:r>
            <a:endParaRPr lang="en-US" sz="1550" dirty="0"/>
          </a:p>
        </p:txBody>
      </p:sp>
      <p:sp>
        <p:nvSpPr>
          <p:cNvPr id="5" name="Text 3"/>
          <p:cNvSpPr/>
          <p:nvPr/>
        </p:nvSpPr>
        <p:spPr>
          <a:xfrm>
            <a:off x="789503" y="3261003"/>
            <a:ext cx="13051393"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Time invested: 8 hours</a:t>
            </a:r>
            <a:endParaRPr lang="en-US" sz="1550" dirty="0"/>
          </a:p>
        </p:txBody>
      </p:sp>
      <p:sp>
        <p:nvSpPr>
          <p:cNvPr id="6" name="Text 4"/>
          <p:cNvSpPr/>
          <p:nvPr/>
        </p:nvSpPr>
        <p:spPr>
          <a:xfrm>
            <a:off x="789503" y="3645813"/>
            <a:ext cx="13051393"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Approach: Blending data engineering, analytics, and designData Engineering: Building a Scalable Foundation</a:t>
            </a:r>
            <a:endParaRPr lang="en-US" sz="1550" dirty="0"/>
          </a:p>
        </p:txBody>
      </p:sp>
      <p:sp>
        <p:nvSpPr>
          <p:cNvPr id="7" name="Text 5"/>
          <p:cNvSpPr/>
          <p:nvPr/>
        </p:nvSpPr>
        <p:spPr>
          <a:xfrm>
            <a:off x="789503" y="4380786"/>
            <a:ext cx="3779639" cy="308372"/>
          </a:xfrm>
          <a:prstGeom prst="rect">
            <a:avLst/>
          </a:prstGeom>
          <a:noFill/>
          <a:ln/>
        </p:spPr>
        <p:txBody>
          <a:bodyPr wrap="none" lIns="0" tIns="0" rIns="0" bIns="0" rtlCol="0" anchor="t"/>
          <a:lstStyle/>
          <a:p>
            <a:pPr marL="0" indent="0" algn="l">
              <a:lnSpc>
                <a:spcPts val="2400"/>
              </a:lnSpc>
              <a:buNone/>
            </a:pPr>
            <a:r>
              <a:rPr lang="en-US" sz="1900" dirty="0">
                <a:solidFill>
                  <a:srgbClr val="CBCCCE"/>
                </a:solidFill>
                <a:latin typeface="Instrument Sans Semi Bold" pitchFamily="34" charset="0"/>
                <a:ea typeface="Instrument Sans Semi Bold" pitchFamily="34" charset="-122"/>
                <a:cs typeface="Instrument Sans Semi Bold" pitchFamily="34" charset="-120"/>
              </a:rPr>
              <a:t>Data Cleaning &amp; Standardization</a:t>
            </a:r>
            <a:endParaRPr lang="en-US" sz="1900" dirty="0"/>
          </a:p>
        </p:txBody>
      </p:sp>
      <p:sp>
        <p:nvSpPr>
          <p:cNvPr id="8" name="Text 6"/>
          <p:cNvSpPr/>
          <p:nvPr/>
        </p:nvSpPr>
        <p:spPr>
          <a:xfrm>
            <a:off x="789503" y="4886444"/>
            <a:ext cx="3984308" cy="631507"/>
          </a:xfrm>
          <a:prstGeom prst="rect">
            <a:avLst/>
          </a:prstGeom>
          <a:noFill/>
          <a:ln/>
        </p:spPr>
        <p:txBody>
          <a:bodyPr wrap="squar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Cleaned and standardized raw data using Python</a:t>
            </a:r>
            <a:endParaRPr lang="en-US" sz="1550" dirty="0"/>
          </a:p>
        </p:txBody>
      </p:sp>
      <p:sp>
        <p:nvSpPr>
          <p:cNvPr id="9" name="Text 7"/>
          <p:cNvSpPr/>
          <p:nvPr/>
        </p:nvSpPr>
        <p:spPr>
          <a:xfrm>
            <a:off x="789503" y="5587008"/>
            <a:ext cx="3984308" cy="631507"/>
          </a:xfrm>
          <a:prstGeom prst="rect">
            <a:avLst/>
          </a:prstGeom>
          <a:noFill/>
          <a:ln/>
        </p:spPr>
        <p:txBody>
          <a:bodyPr wrap="squar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Handled complex string-based attributes (genres, writers, directors)</a:t>
            </a:r>
            <a:endParaRPr lang="en-US" sz="1550" dirty="0"/>
          </a:p>
        </p:txBody>
      </p:sp>
      <p:sp>
        <p:nvSpPr>
          <p:cNvPr id="10" name="Text 8"/>
          <p:cNvSpPr/>
          <p:nvPr/>
        </p:nvSpPr>
        <p:spPr>
          <a:xfrm>
            <a:off x="789503" y="6287572"/>
            <a:ext cx="3984308" cy="631507"/>
          </a:xfrm>
          <a:prstGeom prst="rect">
            <a:avLst/>
          </a:prstGeom>
          <a:noFill/>
          <a:ln/>
        </p:spPr>
        <p:txBody>
          <a:bodyPr wrap="squar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Normalized multi-valued columns using Power Query</a:t>
            </a:r>
            <a:endParaRPr lang="en-US" sz="1550" dirty="0"/>
          </a:p>
        </p:txBody>
      </p:sp>
      <p:sp>
        <p:nvSpPr>
          <p:cNvPr id="11" name="Text 9"/>
          <p:cNvSpPr/>
          <p:nvPr/>
        </p:nvSpPr>
        <p:spPr>
          <a:xfrm>
            <a:off x="789503" y="6988135"/>
            <a:ext cx="3984308" cy="631507"/>
          </a:xfrm>
          <a:prstGeom prst="rect">
            <a:avLst/>
          </a:prstGeom>
          <a:noFill/>
          <a:ln/>
        </p:spPr>
        <p:txBody>
          <a:bodyPr wrap="squar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Ensured data integrity across 5-year filtered dataset</a:t>
            </a:r>
            <a:endParaRPr lang="en-US" sz="1550" dirty="0"/>
          </a:p>
        </p:txBody>
      </p:sp>
      <p:sp>
        <p:nvSpPr>
          <p:cNvPr id="12" name="Text 10"/>
          <p:cNvSpPr/>
          <p:nvPr/>
        </p:nvSpPr>
        <p:spPr>
          <a:xfrm>
            <a:off x="5262920" y="4380786"/>
            <a:ext cx="2467213" cy="308372"/>
          </a:xfrm>
          <a:prstGeom prst="rect">
            <a:avLst/>
          </a:prstGeom>
          <a:noFill/>
          <a:ln/>
        </p:spPr>
        <p:txBody>
          <a:bodyPr wrap="none" lIns="0" tIns="0" rIns="0" bIns="0" rtlCol="0" anchor="t"/>
          <a:lstStyle/>
          <a:p>
            <a:pPr marL="0" indent="0" algn="l">
              <a:lnSpc>
                <a:spcPts val="2400"/>
              </a:lnSpc>
              <a:buNone/>
            </a:pPr>
            <a:r>
              <a:rPr lang="en-US" sz="1900" dirty="0">
                <a:solidFill>
                  <a:srgbClr val="CBCCCE"/>
                </a:solidFill>
                <a:latin typeface="Instrument Sans Semi Bold" pitchFamily="34" charset="0"/>
                <a:ea typeface="Instrument Sans Semi Bold" pitchFamily="34" charset="-122"/>
                <a:cs typeface="Instrument Sans Semi Bold" pitchFamily="34" charset="-120"/>
              </a:rPr>
              <a:t>Schema Design</a:t>
            </a:r>
            <a:endParaRPr lang="en-US" sz="1900" dirty="0"/>
          </a:p>
        </p:txBody>
      </p:sp>
      <p:sp>
        <p:nvSpPr>
          <p:cNvPr id="13" name="Text 11"/>
          <p:cNvSpPr/>
          <p:nvPr/>
        </p:nvSpPr>
        <p:spPr>
          <a:xfrm>
            <a:off x="5262920" y="4886444"/>
            <a:ext cx="3984308" cy="631507"/>
          </a:xfrm>
          <a:prstGeom prst="rect">
            <a:avLst/>
          </a:prstGeom>
          <a:noFill/>
          <a:ln/>
        </p:spPr>
        <p:txBody>
          <a:bodyPr wrap="squar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Designed a star schema for scalable analysis</a:t>
            </a:r>
            <a:endParaRPr lang="en-US" sz="1550" dirty="0"/>
          </a:p>
        </p:txBody>
      </p:sp>
      <p:sp>
        <p:nvSpPr>
          <p:cNvPr id="14" name="Text 12"/>
          <p:cNvSpPr/>
          <p:nvPr/>
        </p:nvSpPr>
        <p:spPr>
          <a:xfrm>
            <a:off x="5262920" y="5587008"/>
            <a:ext cx="3984308"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Separated fact and dimension tables</a:t>
            </a:r>
            <a:endParaRPr lang="en-US" sz="1550" dirty="0"/>
          </a:p>
        </p:txBody>
      </p:sp>
      <p:sp>
        <p:nvSpPr>
          <p:cNvPr id="15" name="Text 13"/>
          <p:cNvSpPr/>
          <p:nvPr/>
        </p:nvSpPr>
        <p:spPr>
          <a:xfrm>
            <a:off x="5262920" y="5971818"/>
            <a:ext cx="3984308"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Eliminated wide, unreadable columns</a:t>
            </a:r>
            <a:endParaRPr lang="en-US" sz="1550" dirty="0"/>
          </a:p>
        </p:txBody>
      </p:sp>
      <p:sp>
        <p:nvSpPr>
          <p:cNvPr id="16" name="Text 14"/>
          <p:cNvSpPr/>
          <p:nvPr/>
        </p:nvSpPr>
        <p:spPr>
          <a:xfrm>
            <a:off x="5262920" y="6356628"/>
            <a:ext cx="3984308" cy="631507"/>
          </a:xfrm>
          <a:prstGeom prst="rect">
            <a:avLst/>
          </a:prstGeom>
          <a:noFill/>
          <a:ln/>
        </p:spPr>
        <p:txBody>
          <a:bodyPr wrap="squar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Optimized for faster dashboard performance</a:t>
            </a:r>
            <a:endParaRPr lang="en-US" sz="1550" dirty="0"/>
          </a:p>
        </p:txBody>
      </p:sp>
      <p:sp>
        <p:nvSpPr>
          <p:cNvPr id="17" name="Text 15"/>
          <p:cNvSpPr/>
          <p:nvPr/>
        </p:nvSpPr>
        <p:spPr>
          <a:xfrm>
            <a:off x="9736336" y="4380786"/>
            <a:ext cx="3024545" cy="308372"/>
          </a:xfrm>
          <a:prstGeom prst="rect">
            <a:avLst/>
          </a:prstGeom>
          <a:noFill/>
          <a:ln/>
        </p:spPr>
        <p:txBody>
          <a:bodyPr wrap="none" lIns="0" tIns="0" rIns="0" bIns="0" rtlCol="0" anchor="t"/>
          <a:lstStyle/>
          <a:p>
            <a:pPr marL="0" indent="0" algn="l">
              <a:lnSpc>
                <a:spcPts val="2400"/>
              </a:lnSpc>
              <a:buNone/>
            </a:pPr>
            <a:r>
              <a:rPr lang="en-US" sz="1900" dirty="0">
                <a:solidFill>
                  <a:srgbClr val="CBCCCE"/>
                </a:solidFill>
                <a:latin typeface="Instrument Sans Semi Bold" pitchFamily="34" charset="0"/>
                <a:ea typeface="Instrument Sans Semi Bold" pitchFamily="34" charset="-122"/>
                <a:cs typeface="Instrument Sans Semi Bold" pitchFamily="34" charset="-120"/>
              </a:rPr>
              <a:t>Technical Implementation</a:t>
            </a:r>
            <a:endParaRPr lang="en-US" sz="1900" dirty="0"/>
          </a:p>
        </p:txBody>
      </p:sp>
      <p:sp>
        <p:nvSpPr>
          <p:cNvPr id="18" name="Text 16"/>
          <p:cNvSpPr/>
          <p:nvPr/>
        </p:nvSpPr>
        <p:spPr>
          <a:xfrm>
            <a:off x="9736336" y="4886444"/>
            <a:ext cx="4119682" cy="631507"/>
          </a:xfrm>
          <a:prstGeom prst="rect">
            <a:avLst/>
          </a:prstGeom>
          <a:noFill/>
          <a:ln/>
        </p:spPr>
        <p:txBody>
          <a:bodyPr wrap="squar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Built dimension tables for shows, writers, directors, genres</a:t>
            </a:r>
            <a:endParaRPr lang="en-US" sz="1550" dirty="0"/>
          </a:p>
        </p:txBody>
      </p:sp>
      <p:sp>
        <p:nvSpPr>
          <p:cNvPr id="19" name="Text 17"/>
          <p:cNvSpPr/>
          <p:nvPr/>
        </p:nvSpPr>
        <p:spPr>
          <a:xfrm>
            <a:off x="9736336" y="5587008"/>
            <a:ext cx="4119682" cy="631507"/>
          </a:xfrm>
          <a:prstGeom prst="rect">
            <a:avLst/>
          </a:prstGeom>
          <a:noFill/>
          <a:ln/>
        </p:spPr>
        <p:txBody>
          <a:bodyPr wrap="squar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Created fact tables for ratings and metadata</a:t>
            </a:r>
            <a:endParaRPr lang="en-US" sz="1550" dirty="0"/>
          </a:p>
        </p:txBody>
      </p:sp>
      <p:sp>
        <p:nvSpPr>
          <p:cNvPr id="20" name="Text 18"/>
          <p:cNvSpPr/>
          <p:nvPr/>
        </p:nvSpPr>
        <p:spPr>
          <a:xfrm>
            <a:off x="9736336" y="6287572"/>
            <a:ext cx="4119682" cy="631507"/>
          </a:xfrm>
          <a:prstGeom prst="rect">
            <a:avLst/>
          </a:prstGeom>
          <a:noFill/>
          <a:ln/>
        </p:spPr>
        <p:txBody>
          <a:bodyPr wrap="squar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Structured data for dynamic Power BI visuals</a:t>
            </a:r>
            <a:endParaRPr lang="en-US" sz="1550" dirty="0"/>
          </a:p>
        </p:txBody>
      </p:sp>
      <p:sp>
        <p:nvSpPr>
          <p:cNvPr id="21" name="Text 19"/>
          <p:cNvSpPr/>
          <p:nvPr/>
        </p:nvSpPr>
        <p:spPr>
          <a:xfrm>
            <a:off x="9736336" y="6988135"/>
            <a:ext cx="4119682" cy="631507"/>
          </a:xfrm>
          <a:prstGeom prst="rect">
            <a:avLst/>
          </a:prstGeom>
          <a:noFill/>
          <a:ln/>
        </p:spPr>
        <p:txBody>
          <a:bodyPr wrap="square" lIns="0" tIns="0" rIns="0" bIns="0" rtlCol="0" anchor="t"/>
          <a:lstStyle/>
          <a:p>
            <a:pPr marL="342900" indent="-342900" algn="l">
              <a:lnSpc>
                <a:spcPts val="2450"/>
              </a:lnSpc>
              <a:buSzPct val="100000"/>
              <a:buChar char="•"/>
            </a:pPr>
            <a:r>
              <a:rPr lang="en-US" sz="1550" dirty="0">
                <a:solidFill>
                  <a:srgbClr val="CFD0D8"/>
                </a:solidFill>
                <a:latin typeface="Instrument Sans Medium" pitchFamily="34" charset="0"/>
                <a:ea typeface="Instrument Sans Medium" pitchFamily="34" charset="-122"/>
                <a:cs typeface="Instrument Sans Medium" pitchFamily="34" charset="-120"/>
              </a:rPr>
              <a:t>Enabled efficient filtering and aggregation</a:t>
            </a:r>
            <a:endParaRPr lang="en-US" sz="1550" dirty="0"/>
          </a:p>
        </p:txBody>
      </p:sp>
      <p:sp>
        <p:nvSpPr>
          <p:cNvPr id="22" name="Rectangle 21">
            <a:extLst>
              <a:ext uri="{FF2B5EF4-FFF2-40B4-BE49-F238E27FC236}">
                <a16:creationId xmlns:a16="http://schemas.microsoft.com/office/drawing/2014/main" id="{32422DA9-1079-60EF-9831-7FBCEC24B6CD}"/>
              </a:ext>
            </a:extLst>
          </p:cNvPr>
          <p:cNvSpPr/>
          <p:nvPr/>
        </p:nvSpPr>
        <p:spPr>
          <a:xfrm>
            <a:off x="12821478" y="7752521"/>
            <a:ext cx="1689652" cy="397565"/>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057751"/>
            <a:ext cx="7012424" cy="620078"/>
          </a:xfrm>
          <a:prstGeom prst="rect">
            <a:avLst/>
          </a:prstGeom>
          <a:noFill/>
          <a:ln/>
        </p:spPr>
        <p:txBody>
          <a:bodyPr wrap="non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Turning Reports into Products</a:t>
            </a:r>
            <a:endParaRPr lang="en-US" sz="3900" dirty="0"/>
          </a:p>
        </p:txBody>
      </p:sp>
      <p:sp>
        <p:nvSpPr>
          <p:cNvPr id="3" name="Text 1"/>
          <p:cNvSpPr/>
          <p:nvPr/>
        </p:nvSpPr>
        <p:spPr>
          <a:xfrm>
            <a:off x="793790" y="1757124"/>
            <a:ext cx="3980736" cy="496133"/>
          </a:xfrm>
          <a:prstGeom prst="rect">
            <a:avLst/>
          </a:prstGeom>
          <a:noFill/>
          <a:ln/>
        </p:spPr>
        <p:txBody>
          <a:bodyPr wrap="none" lIns="0" tIns="0" rIns="0" bIns="0" rtlCol="0" anchor="t"/>
          <a:lstStyle/>
          <a:p>
            <a:pPr marL="0" indent="0" algn="l">
              <a:lnSpc>
                <a:spcPts val="3900"/>
              </a:lnSpc>
              <a:buNone/>
            </a:pPr>
            <a:r>
              <a:rPr lang="en-US" sz="3100" dirty="0">
                <a:solidFill>
                  <a:srgbClr val="CBCCCE"/>
                </a:solidFill>
                <a:latin typeface="Instrument Sans Semi Bold" pitchFamily="34" charset="0"/>
                <a:ea typeface="Instrument Sans Semi Bold" pitchFamily="34" charset="-122"/>
                <a:cs typeface="Instrument Sans Semi Bold" pitchFamily="34" charset="-120"/>
              </a:rPr>
              <a:t>Key Design Decisions</a:t>
            </a:r>
            <a:endParaRPr lang="en-US" sz="3100" dirty="0"/>
          </a:p>
        </p:txBody>
      </p:sp>
      <p:sp>
        <p:nvSpPr>
          <p:cNvPr id="4" name="Shape 2"/>
          <p:cNvSpPr/>
          <p:nvPr/>
        </p:nvSpPr>
        <p:spPr>
          <a:xfrm>
            <a:off x="793790" y="2550914"/>
            <a:ext cx="6422231" cy="1506736"/>
          </a:xfrm>
          <a:prstGeom prst="roundRect">
            <a:avLst>
              <a:gd name="adj" fmla="val 7282"/>
            </a:avLst>
          </a:prstGeom>
          <a:solidFill>
            <a:srgbClr val="2A2A2D">
              <a:alpha val="95000"/>
            </a:srgbClr>
          </a:solidFill>
          <a:ln w="22860">
            <a:solidFill>
              <a:srgbClr val="56565B"/>
            </a:solidFill>
            <a:prstDash val="solid"/>
          </a:ln>
        </p:spPr>
      </p:sp>
      <p:pic>
        <p:nvPicPr>
          <p:cNvPr id="5" name="Image 0" descr="preencoded.png"/>
          <p:cNvPicPr>
            <a:picLocks noChangeAspect="1"/>
          </p:cNvPicPr>
          <p:nvPr/>
        </p:nvPicPr>
        <p:blipFill>
          <a:blip r:embed="rId3"/>
          <a:stretch>
            <a:fillRect/>
          </a:stretch>
        </p:blipFill>
        <p:spPr>
          <a:xfrm>
            <a:off x="770930" y="2550914"/>
            <a:ext cx="91440" cy="1506736"/>
          </a:xfrm>
          <a:prstGeom prst="rect">
            <a:avLst/>
          </a:prstGeom>
        </p:spPr>
      </p:pic>
      <p:sp>
        <p:nvSpPr>
          <p:cNvPr id="6" name="Text 3"/>
          <p:cNvSpPr/>
          <p:nvPr/>
        </p:nvSpPr>
        <p:spPr>
          <a:xfrm>
            <a:off x="1083588" y="2772132"/>
            <a:ext cx="2582823"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Curated Show Posters</a:t>
            </a:r>
            <a:endParaRPr lang="en-US" sz="1950" dirty="0"/>
          </a:p>
        </p:txBody>
      </p:sp>
      <p:sp>
        <p:nvSpPr>
          <p:cNvPr id="7" name="Text 4"/>
          <p:cNvSpPr/>
          <p:nvPr/>
        </p:nvSpPr>
        <p:spPr>
          <a:xfrm>
            <a:off x="1083588" y="3201353"/>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Manually curated and aligned show posters for authentic streaming experience</a:t>
            </a:r>
            <a:endParaRPr lang="en-US" sz="1550" dirty="0"/>
          </a:p>
        </p:txBody>
      </p:sp>
      <p:sp>
        <p:nvSpPr>
          <p:cNvPr id="8" name="Shape 5"/>
          <p:cNvSpPr/>
          <p:nvPr/>
        </p:nvSpPr>
        <p:spPr>
          <a:xfrm>
            <a:off x="7414379" y="2550914"/>
            <a:ext cx="6422231" cy="1506736"/>
          </a:xfrm>
          <a:prstGeom prst="roundRect">
            <a:avLst>
              <a:gd name="adj" fmla="val 7282"/>
            </a:avLst>
          </a:prstGeom>
          <a:solidFill>
            <a:srgbClr val="2A2A2D">
              <a:alpha val="95000"/>
            </a:srgbClr>
          </a:solidFill>
          <a:ln w="22860">
            <a:solidFill>
              <a:srgbClr val="56565B"/>
            </a:solidFill>
            <a:prstDash val="solid"/>
          </a:ln>
        </p:spPr>
      </p:sp>
      <p:pic>
        <p:nvPicPr>
          <p:cNvPr id="9" name="Image 1" descr="preencoded.png"/>
          <p:cNvPicPr>
            <a:picLocks noChangeAspect="1"/>
          </p:cNvPicPr>
          <p:nvPr/>
        </p:nvPicPr>
        <p:blipFill>
          <a:blip r:embed="rId3"/>
          <a:stretch>
            <a:fillRect/>
          </a:stretch>
        </p:blipFill>
        <p:spPr>
          <a:xfrm>
            <a:off x="7391519" y="2550914"/>
            <a:ext cx="91440" cy="1506736"/>
          </a:xfrm>
          <a:prstGeom prst="rect">
            <a:avLst/>
          </a:prstGeom>
        </p:spPr>
      </p:pic>
      <p:sp>
        <p:nvSpPr>
          <p:cNvPr id="10" name="Text 6"/>
          <p:cNvSpPr/>
          <p:nvPr/>
        </p:nvSpPr>
        <p:spPr>
          <a:xfrm>
            <a:off x="7704177" y="277213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Dynamic Image URLs</a:t>
            </a:r>
            <a:endParaRPr lang="en-US" sz="1950" dirty="0"/>
          </a:p>
        </p:txBody>
      </p:sp>
      <p:sp>
        <p:nvSpPr>
          <p:cNvPr id="11" name="Text 7"/>
          <p:cNvSpPr/>
          <p:nvPr/>
        </p:nvSpPr>
        <p:spPr>
          <a:xfrm>
            <a:off x="7704177" y="3201353"/>
            <a:ext cx="5911215" cy="317540"/>
          </a:xfrm>
          <a:prstGeom prst="rect">
            <a:avLst/>
          </a:prstGeom>
          <a:noFill/>
          <a:ln/>
        </p:spPr>
        <p:txBody>
          <a:bodyPr wrap="non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Dynamic image URLs integrated into Power BI visuals</a:t>
            </a:r>
            <a:endParaRPr lang="en-US" sz="1550" dirty="0"/>
          </a:p>
        </p:txBody>
      </p:sp>
      <p:sp>
        <p:nvSpPr>
          <p:cNvPr id="12" name="Shape 8"/>
          <p:cNvSpPr/>
          <p:nvPr/>
        </p:nvSpPr>
        <p:spPr>
          <a:xfrm>
            <a:off x="793790" y="4256008"/>
            <a:ext cx="6422231" cy="1506736"/>
          </a:xfrm>
          <a:prstGeom prst="roundRect">
            <a:avLst>
              <a:gd name="adj" fmla="val 7282"/>
            </a:avLst>
          </a:prstGeom>
          <a:solidFill>
            <a:srgbClr val="2A2A2D">
              <a:alpha val="95000"/>
            </a:srgbClr>
          </a:solidFill>
          <a:ln w="22860">
            <a:solidFill>
              <a:srgbClr val="56565B"/>
            </a:solidFill>
            <a:prstDash val="solid"/>
          </a:ln>
        </p:spPr>
      </p:sp>
      <p:pic>
        <p:nvPicPr>
          <p:cNvPr id="13" name="Image 2" descr="preencoded.png"/>
          <p:cNvPicPr>
            <a:picLocks noChangeAspect="1"/>
          </p:cNvPicPr>
          <p:nvPr/>
        </p:nvPicPr>
        <p:blipFill>
          <a:blip r:embed="rId3"/>
          <a:stretch>
            <a:fillRect/>
          </a:stretch>
        </p:blipFill>
        <p:spPr>
          <a:xfrm>
            <a:off x="770930" y="4256008"/>
            <a:ext cx="91440" cy="1506736"/>
          </a:xfrm>
          <a:prstGeom prst="rect">
            <a:avLst/>
          </a:prstGeom>
        </p:spPr>
      </p:pic>
      <p:sp>
        <p:nvSpPr>
          <p:cNvPr id="14" name="Text 9"/>
          <p:cNvSpPr/>
          <p:nvPr/>
        </p:nvSpPr>
        <p:spPr>
          <a:xfrm>
            <a:off x="1083588" y="4477226"/>
            <a:ext cx="2799040"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High-Resolution Images</a:t>
            </a:r>
            <a:endParaRPr lang="en-US" sz="1950" dirty="0"/>
          </a:p>
        </p:txBody>
      </p:sp>
      <p:sp>
        <p:nvSpPr>
          <p:cNvPr id="15" name="Text 10"/>
          <p:cNvSpPr/>
          <p:nvPr/>
        </p:nvSpPr>
        <p:spPr>
          <a:xfrm>
            <a:off x="1083588" y="4906447"/>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Python function to upgrade low-resolution image URLs to original quality</a:t>
            </a:r>
            <a:endParaRPr lang="en-US" sz="1550" dirty="0"/>
          </a:p>
        </p:txBody>
      </p:sp>
      <p:sp>
        <p:nvSpPr>
          <p:cNvPr id="16" name="Shape 11"/>
          <p:cNvSpPr/>
          <p:nvPr/>
        </p:nvSpPr>
        <p:spPr>
          <a:xfrm>
            <a:off x="7414379" y="4256008"/>
            <a:ext cx="6422231" cy="1506736"/>
          </a:xfrm>
          <a:prstGeom prst="roundRect">
            <a:avLst>
              <a:gd name="adj" fmla="val 7282"/>
            </a:avLst>
          </a:prstGeom>
          <a:solidFill>
            <a:srgbClr val="2A2A2D">
              <a:alpha val="95000"/>
            </a:srgbClr>
          </a:solidFill>
          <a:ln w="22860">
            <a:solidFill>
              <a:srgbClr val="56565B"/>
            </a:solidFill>
            <a:prstDash val="solid"/>
          </a:ln>
        </p:spPr>
      </p:sp>
      <p:pic>
        <p:nvPicPr>
          <p:cNvPr id="17" name="Image 3" descr="preencoded.png"/>
          <p:cNvPicPr>
            <a:picLocks noChangeAspect="1"/>
          </p:cNvPicPr>
          <p:nvPr/>
        </p:nvPicPr>
        <p:blipFill>
          <a:blip r:embed="rId3"/>
          <a:stretch>
            <a:fillRect/>
          </a:stretch>
        </p:blipFill>
        <p:spPr>
          <a:xfrm>
            <a:off x="7391519" y="4256008"/>
            <a:ext cx="91440" cy="1506736"/>
          </a:xfrm>
          <a:prstGeom prst="rect">
            <a:avLst/>
          </a:prstGeom>
        </p:spPr>
      </p:pic>
      <p:sp>
        <p:nvSpPr>
          <p:cNvPr id="18" name="Text 12"/>
          <p:cNvSpPr/>
          <p:nvPr/>
        </p:nvSpPr>
        <p:spPr>
          <a:xfrm>
            <a:off x="7704177" y="4477226"/>
            <a:ext cx="2536388"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Dynamic Details Page</a:t>
            </a:r>
            <a:endParaRPr lang="en-US" sz="1950" dirty="0"/>
          </a:p>
        </p:txBody>
      </p:sp>
      <p:sp>
        <p:nvSpPr>
          <p:cNvPr id="19" name="Text 13"/>
          <p:cNvSpPr/>
          <p:nvPr/>
        </p:nvSpPr>
        <p:spPr>
          <a:xfrm>
            <a:off x="7704177" y="4906447"/>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Details page that dynamically updates with synopsis, images, and metadata</a:t>
            </a:r>
            <a:endParaRPr lang="en-US" sz="1550" dirty="0"/>
          </a:p>
        </p:txBody>
      </p:sp>
      <p:sp>
        <p:nvSpPr>
          <p:cNvPr id="20" name="Text 14"/>
          <p:cNvSpPr/>
          <p:nvPr/>
        </p:nvSpPr>
        <p:spPr>
          <a:xfrm>
            <a:off x="793790" y="6060400"/>
            <a:ext cx="3969425" cy="496133"/>
          </a:xfrm>
          <a:prstGeom prst="rect">
            <a:avLst/>
          </a:prstGeom>
          <a:noFill/>
          <a:ln/>
        </p:spPr>
        <p:txBody>
          <a:bodyPr wrap="none" lIns="0" tIns="0" rIns="0" bIns="0" rtlCol="0" anchor="t"/>
          <a:lstStyle/>
          <a:p>
            <a:pPr marL="0" indent="0" algn="l">
              <a:lnSpc>
                <a:spcPts val="3900"/>
              </a:lnSpc>
              <a:buNone/>
            </a:pPr>
            <a:r>
              <a:rPr lang="en-US" sz="3100" dirty="0">
                <a:solidFill>
                  <a:srgbClr val="CBCCCE"/>
                </a:solidFill>
                <a:latin typeface="Instrument Sans Semi Bold" pitchFamily="34" charset="0"/>
                <a:ea typeface="Instrument Sans Semi Bold" pitchFamily="34" charset="-122"/>
                <a:cs typeface="Instrument Sans Semi Bold" pitchFamily="34" charset="-120"/>
              </a:rPr>
              <a:t>Result</a:t>
            </a:r>
            <a:endParaRPr lang="en-US" sz="3100" dirty="0"/>
          </a:p>
        </p:txBody>
      </p:sp>
      <p:sp>
        <p:nvSpPr>
          <p:cNvPr id="21" name="Text 15"/>
          <p:cNvSpPr/>
          <p:nvPr/>
        </p:nvSpPr>
        <p:spPr>
          <a:xfrm>
            <a:off x="793790" y="6854190"/>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A dashboard that feels like an interactive product, not a static report.</a:t>
            </a:r>
            <a:endParaRPr lang="en-US" sz="1550" dirty="0"/>
          </a:p>
        </p:txBody>
      </p:sp>
      <p:sp>
        <p:nvSpPr>
          <p:cNvPr id="22" name="Rectangle 21">
            <a:extLst>
              <a:ext uri="{FF2B5EF4-FFF2-40B4-BE49-F238E27FC236}">
                <a16:creationId xmlns:a16="http://schemas.microsoft.com/office/drawing/2014/main" id="{59353119-1D54-6BBC-37BE-D90921FC8990}"/>
              </a:ext>
            </a:extLst>
          </p:cNvPr>
          <p:cNvSpPr/>
          <p:nvPr/>
        </p:nvSpPr>
        <p:spPr>
          <a:xfrm>
            <a:off x="12821478" y="7752521"/>
            <a:ext cx="1689652" cy="397565"/>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457087" y="445651"/>
            <a:ext cx="5888236" cy="506373"/>
          </a:xfrm>
          <a:prstGeom prst="rect">
            <a:avLst/>
          </a:prstGeom>
          <a:noFill/>
          <a:ln/>
        </p:spPr>
        <p:txBody>
          <a:bodyPr wrap="none" lIns="0" tIns="0" rIns="0" bIns="0" rtlCol="0" anchor="t"/>
          <a:lstStyle/>
          <a:p>
            <a:pPr marL="0" indent="0" algn="l">
              <a:lnSpc>
                <a:spcPts val="3950"/>
              </a:lnSpc>
              <a:buNone/>
            </a:pPr>
            <a:r>
              <a:rPr lang="en-US" sz="3150" dirty="0">
                <a:solidFill>
                  <a:srgbClr val="CBCCCE"/>
                </a:solidFill>
                <a:latin typeface="Instrument Sans Semi Bold" pitchFamily="34" charset="0"/>
                <a:ea typeface="Instrument Sans Semi Bold" pitchFamily="34" charset="-122"/>
                <a:cs typeface="Instrument Sans Semi Bold" pitchFamily="34" charset="-120"/>
              </a:rPr>
              <a:t>Dashboard Design: Home Page</a:t>
            </a:r>
            <a:endParaRPr lang="en-US" sz="3150" dirty="0"/>
          </a:p>
        </p:txBody>
      </p:sp>
      <p:pic>
        <p:nvPicPr>
          <p:cNvPr id="3" name="Image 0" descr="preencoded.png"/>
          <p:cNvPicPr>
            <a:picLocks noChangeAspect="1"/>
          </p:cNvPicPr>
          <p:nvPr/>
        </p:nvPicPr>
        <p:blipFill>
          <a:blip r:embed="rId3"/>
          <a:stretch>
            <a:fillRect/>
          </a:stretch>
        </p:blipFill>
        <p:spPr>
          <a:xfrm>
            <a:off x="1487210" y="1193601"/>
            <a:ext cx="11716226" cy="6590348"/>
          </a:xfrm>
          <a:prstGeom prst="rect">
            <a:avLst/>
          </a:prstGeom>
        </p:spPr>
      </p:pic>
      <p:sp>
        <p:nvSpPr>
          <p:cNvPr id="4" name="Rectangle 3">
            <a:extLst>
              <a:ext uri="{FF2B5EF4-FFF2-40B4-BE49-F238E27FC236}">
                <a16:creationId xmlns:a16="http://schemas.microsoft.com/office/drawing/2014/main" id="{4754D89F-A88F-CD3C-3811-8FC4F8F4C5B0}"/>
              </a:ext>
            </a:extLst>
          </p:cNvPr>
          <p:cNvSpPr/>
          <p:nvPr/>
        </p:nvSpPr>
        <p:spPr>
          <a:xfrm>
            <a:off x="12821478" y="7783949"/>
            <a:ext cx="1689652" cy="366137"/>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75360" y="482322"/>
            <a:ext cx="7072551" cy="548045"/>
          </a:xfrm>
          <a:prstGeom prst="rect">
            <a:avLst/>
          </a:prstGeom>
          <a:noFill/>
          <a:ln/>
        </p:spPr>
        <p:txBody>
          <a:bodyPr wrap="none" lIns="0" tIns="0" rIns="0" bIns="0" rtlCol="0" anchor="t"/>
          <a:lstStyle/>
          <a:p>
            <a:pPr marL="0" indent="0" algn="l">
              <a:lnSpc>
                <a:spcPts val="4300"/>
              </a:lnSpc>
              <a:buNone/>
            </a:pPr>
            <a:r>
              <a:rPr lang="en-US" sz="3450" dirty="0">
                <a:solidFill>
                  <a:srgbClr val="CBCCCE"/>
                </a:solidFill>
                <a:latin typeface="Instrument Sans Semi Bold" pitchFamily="34" charset="0"/>
                <a:ea typeface="Instrument Sans Semi Bold" pitchFamily="34" charset="-122"/>
                <a:cs typeface="Instrument Sans Semi Bold" pitchFamily="34" charset="-120"/>
              </a:rPr>
              <a:t>Dashboard Design: Overview Page</a:t>
            </a:r>
            <a:endParaRPr lang="en-US" sz="3450" dirty="0"/>
          </a:p>
        </p:txBody>
      </p:sp>
      <p:pic>
        <p:nvPicPr>
          <p:cNvPr id="3" name="Image 0" descr="preencoded.png"/>
          <p:cNvPicPr>
            <a:picLocks noChangeAspect="1"/>
          </p:cNvPicPr>
          <p:nvPr/>
        </p:nvPicPr>
        <p:blipFill>
          <a:blip r:embed="rId3"/>
          <a:stretch>
            <a:fillRect/>
          </a:stretch>
        </p:blipFill>
        <p:spPr>
          <a:xfrm>
            <a:off x="1491162" y="1212483"/>
            <a:ext cx="11648076" cy="6534795"/>
          </a:xfrm>
          <a:prstGeom prst="rect">
            <a:avLst/>
          </a:prstGeom>
        </p:spPr>
      </p:pic>
      <p:sp>
        <p:nvSpPr>
          <p:cNvPr id="4" name="Rectangle 3">
            <a:extLst>
              <a:ext uri="{FF2B5EF4-FFF2-40B4-BE49-F238E27FC236}">
                <a16:creationId xmlns:a16="http://schemas.microsoft.com/office/drawing/2014/main" id="{26602194-CDCD-9208-A6C1-D5953F354432}"/>
              </a:ext>
            </a:extLst>
          </p:cNvPr>
          <p:cNvSpPr/>
          <p:nvPr/>
        </p:nvSpPr>
        <p:spPr>
          <a:xfrm>
            <a:off x="12821478" y="7752521"/>
            <a:ext cx="1689652" cy="397565"/>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457087" y="445651"/>
            <a:ext cx="6064448" cy="506373"/>
          </a:xfrm>
          <a:prstGeom prst="rect">
            <a:avLst/>
          </a:prstGeom>
          <a:noFill/>
          <a:ln/>
        </p:spPr>
        <p:txBody>
          <a:bodyPr wrap="none" lIns="0" tIns="0" rIns="0" bIns="0" rtlCol="0" anchor="t"/>
          <a:lstStyle/>
          <a:p>
            <a:pPr marL="0" indent="0" algn="l">
              <a:lnSpc>
                <a:spcPts val="3950"/>
              </a:lnSpc>
              <a:buNone/>
            </a:pPr>
            <a:r>
              <a:rPr lang="en-US" sz="3150" dirty="0">
                <a:solidFill>
                  <a:srgbClr val="CBCCCE"/>
                </a:solidFill>
                <a:latin typeface="Instrument Sans Semi Bold" pitchFamily="34" charset="0"/>
                <a:ea typeface="Instrument Sans Semi Bold" pitchFamily="34" charset="-122"/>
                <a:cs typeface="Instrument Sans Semi Bold" pitchFamily="34" charset="-120"/>
              </a:rPr>
              <a:t>Dashboard Design: Details Page</a:t>
            </a:r>
            <a:endParaRPr lang="en-US" sz="3150" dirty="0"/>
          </a:p>
        </p:txBody>
      </p:sp>
      <p:pic>
        <p:nvPicPr>
          <p:cNvPr id="3" name="Image 0" descr="preencoded.png"/>
          <p:cNvPicPr>
            <a:picLocks noChangeAspect="1"/>
          </p:cNvPicPr>
          <p:nvPr/>
        </p:nvPicPr>
        <p:blipFill>
          <a:blip r:embed="rId3"/>
          <a:stretch>
            <a:fillRect/>
          </a:stretch>
        </p:blipFill>
        <p:spPr>
          <a:xfrm>
            <a:off x="1457087" y="1195030"/>
            <a:ext cx="11716226" cy="6588800"/>
          </a:xfrm>
          <a:prstGeom prst="rect">
            <a:avLst/>
          </a:prstGeom>
        </p:spPr>
      </p:pic>
      <p:sp>
        <p:nvSpPr>
          <p:cNvPr id="4" name="Rectangle 3">
            <a:extLst>
              <a:ext uri="{FF2B5EF4-FFF2-40B4-BE49-F238E27FC236}">
                <a16:creationId xmlns:a16="http://schemas.microsoft.com/office/drawing/2014/main" id="{93CFD885-4EE4-4C0A-B573-43A10C6F2C50}"/>
              </a:ext>
            </a:extLst>
          </p:cNvPr>
          <p:cNvSpPr/>
          <p:nvPr/>
        </p:nvSpPr>
        <p:spPr>
          <a:xfrm>
            <a:off x="12821478" y="7783830"/>
            <a:ext cx="1689652" cy="366256"/>
          </a:xfrm>
          <a:prstGeom prst="rect">
            <a:avLst/>
          </a:prstGeom>
          <a:solidFill>
            <a:srgbClr val="2A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1227</Words>
  <Application>Microsoft Office PowerPoint</Application>
  <PresentationFormat>Custom</PresentationFormat>
  <Paragraphs>108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Instrument Sans Semi Bold</vt:lpstr>
      <vt:lpstr>Instrument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SHEHRAZ SARWAR</cp:lastModifiedBy>
  <cp:revision>2</cp:revision>
  <dcterms:created xsi:type="dcterms:W3CDTF">2026-01-13T12:55:04Z</dcterms:created>
  <dcterms:modified xsi:type="dcterms:W3CDTF">2026-01-13T13:02:30Z</dcterms:modified>
</cp:coreProperties>
</file>